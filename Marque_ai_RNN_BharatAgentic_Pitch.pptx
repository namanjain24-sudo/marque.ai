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Bebas Neue Bold" charset="1" panose="020B0606020202050201"/>
      <p:regular r:id="rId11"/>
    </p:embeddedFont>
    <p:embeddedFont>
      <p:font typeface="Brittany" charset="1" panose="00000000000000000000"/>
      <p:regular r:id="rId12"/>
    </p:embeddedFont>
    <p:embeddedFont>
      <p:font typeface="Bebas Neue" charset="1" panose="00000500000000000000"/>
      <p:regular r:id="rId13"/>
    </p:embeddedFont>
    <p:embeddedFont>
      <p:font typeface="Poppins" charset="1" panose="0000050000000000000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font" Target="fonts/font11.fntdata"/><Relationship Id="rId12" Type="http://schemas.openxmlformats.org/officeDocument/2006/relationships/font" Target="fonts/font12.fntdata"/><Relationship Id="rId13" Type="http://schemas.openxmlformats.org/officeDocument/2006/relationships/font" Target="fonts/font13.fntdata"/><Relationship Id="rId14" Type="http://schemas.openxmlformats.org/officeDocument/2006/relationships/font" Target="fonts/font14.fntdata"/><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Rohan owns a burger place. His last three posts look like three different businesses. Introduce Team RNN, then the three pains. Market numbers are NRAI figures.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Chatbots wait for prompts. Marque takes a goal, plans, acts, checks the signal, fixes it, and stops for approval. Show the goal bar: one sentence in, four assets out.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7 steps left to right. Stress: Brand Rules Check is plain code, Signal Check is the vision model, max 2 revise rounds. Then the responsible-AI card.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live product next to this slide. The signal card is a sample run. Replace the target tiles with measured numbers from the 5-brief test set if you have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Pomelli is free and live in India, so do not say it is missing. Our edge is judging, fixing, auditing and Bharat channels. Close on the WhatsApp line and the two links.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jpeg"/><Relationship Id="rId5" Type="http://schemas.openxmlformats.org/officeDocument/2006/relationships/notesSlide" Target="../notesSlides/notesSlide5.xml"/></Relationships>
</file>

<file path=ppt/slides/slide1.xml><?xml version="1.0" encoding="utf-8"?>
<p:sld xmlns:p="http://schemas.openxmlformats.org/presentationml/2006/main" xmlns:a="http://schemas.openxmlformats.org/drawingml/2006/main">
  <p:cSld>
    <p:bg>
      <p:bgPr>
        <a:solidFill>
          <a:srgbClr val="FBF3E4"/>
        </a:solidFill>
      </p:bgPr>
    </p:bg>
    <p:spTree>
      <p:nvGrpSpPr>
        <p:cNvPr id="1" name=""/>
        <p:cNvGrpSpPr/>
        <p:nvPr/>
      </p:nvGrpSpPr>
      <p:grpSpPr>
        <a:xfrm>
          <a:off x="0" y="0"/>
          <a:ext cx="0" cy="0"/>
          <a:chOff x="0" y="0"/>
          <a:chExt cx="0" cy="0"/>
        </a:xfrm>
      </p:grpSpPr>
      <p:sp>
        <p:nvSpPr>
          <p:cNvPr id="2" name="TextBox 1"/>
          <p:cNvSpPr txBox="1"/>
          <p:nvPr/>
        </p:nvSpPr>
        <p:spPr>
          <a:xfrm>
            <a:off x="868680" y="868680"/>
            <a:ext cx="7315200" cy="365760"/>
          </a:xfrm>
          <a:prstGeom prst="rect">
            <a:avLst/>
          </a:prstGeom>
          <a:noFill/>
        </p:spPr>
        <p:txBody>
          <a:bodyPr wrap="square" lIns="0" rIns="0" tIns="0" bIns="0" anchor="t">
            <a:spAutoFit/>
          </a:bodyPr>
          <a:lstStyle/>
          <a:p>
            <a:pPr algn="l"/>
            <a:r>
              <a:rPr sz="2000" b="1" i="0">
                <a:solidFill>
                  <a:srgbClr val="000000"/>
                </a:solidFill>
                <a:latin typeface="Arial"/>
              </a:rPr>
              <a:t>team rnn</a:t>
            </a:r>
          </a:p>
        </p:txBody>
      </p:sp>
      <p:sp>
        <p:nvSpPr>
          <p:cNvPr id="3" name="TextBox 2"/>
          <p:cNvSpPr txBox="1"/>
          <p:nvPr/>
        </p:nvSpPr>
        <p:spPr>
          <a:xfrm>
            <a:off x="13898880" y="868680"/>
            <a:ext cx="3520440" cy="365760"/>
          </a:xfrm>
          <a:prstGeom prst="rect">
            <a:avLst/>
          </a:prstGeom>
          <a:noFill/>
        </p:spPr>
        <p:txBody>
          <a:bodyPr wrap="square" lIns="0" rIns="0" tIns="0" bIns="0" anchor="t">
            <a:spAutoFit/>
          </a:bodyPr>
          <a:lstStyle/>
          <a:p>
            <a:pPr algn="r"/>
            <a:r>
              <a:rPr sz="1600" b="0" i="0">
                <a:solidFill>
                  <a:srgbClr val="000000"/>
                </a:solidFill>
                <a:latin typeface="Arial"/>
              </a:rPr>
              <a:t>Page 01 of 05</a:t>
            </a:r>
          </a:p>
        </p:txBody>
      </p:sp>
      <p:sp>
        <p:nvSpPr>
          <p:cNvPr id="4" name="TextBox 3"/>
          <p:cNvSpPr txBox="1"/>
          <p:nvPr/>
        </p:nvSpPr>
        <p:spPr>
          <a:xfrm>
            <a:off x="868680" y="9235440"/>
            <a:ext cx="8229600" cy="320040"/>
          </a:xfrm>
          <a:prstGeom prst="rect">
            <a:avLst/>
          </a:prstGeom>
          <a:noFill/>
        </p:spPr>
        <p:txBody>
          <a:bodyPr wrap="square" lIns="0" rIns="0" tIns="0" bIns="0" anchor="t">
            <a:spAutoFit/>
          </a:bodyPr>
          <a:lstStyle/>
          <a:p>
            <a:pPr algn="l"/>
            <a:r>
              <a:rPr sz="1600" b="0" i="0">
                <a:solidFill>
                  <a:srgbClr val="000000"/>
                </a:solidFill>
                <a:latin typeface="Arial"/>
              </a:rPr>
              <a:t>marque.skunkworkslab.online</a:t>
            </a:r>
          </a:p>
        </p:txBody>
      </p:sp>
      <p:cxnSp>
        <p:nvCxnSpPr>
          <p:cNvPr id="5" name="Connector 4"/>
          <p:cNvCxnSpPr/>
          <p:nvPr/>
        </p:nvCxnSpPr>
        <p:spPr>
          <a:xfrm>
            <a:off x="15544800" y="9400032"/>
            <a:ext cx="187452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Isosceles Triangle 5"/>
          <p:cNvSpPr/>
          <p:nvPr/>
        </p:nvSpPr>
        <p:spPr>
          <a:xfrm rot="5400000">
            <a:off x="17263872" y="9326880"/>
            <a:ext cx="155448" cy="155448"/>
          </a:xfrm>
          <a:prstGeom prst="triangl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241280" y="868680"/>
            <a:ext cx="3840480" cy="365760"/>
          </a:xfrm>
          <a:prstGeom prst="rect">
            <a:avLst/>
          </a:prstGeom>
          <a:noFill/>
        </p:spPr>
        <p:txBody>
          <a:bodyPr wrap="square" lIns="0" rIns="0" tIns="0" bIns="0" anchor="t">
            <a:spAutoFit/>
          </a:bodyPr>
          <a:lstStyle/>
          <a:p>
            <a:pPr algn="r"/>
            <a:r>
              <a:rPr sz="1600" b="0" i="0">
                <a:solidFill>
                  <a:srgbClr val="000000"/>
                </a:solidFill>
                <a:latin typeface="Arial"/>
              </a:rPr>
              <a:t>BharatAgentic Hackathon</a:t>
            </a:r>
          </a:p>
        </p:txBody>
      </p:sp>
      <p:sp>
        <p:nvSpPr>
          <p:cNvPr id="8" name="TextBox 7"/>
          <p:cNvSpPr txBox="1"/>
          <p:nvPr/>
        </p:nvSpPr>
        <p:spPr>
          <a:xfrm>
            <a:off x="868680" y="1691640"/>
            <a:ext cx="5486400" cy="1097280"/>
          </a:xfrm>
          <a:prstGeom prst="rect">
            <a:avLst/>
          </a:prstGeom>
          <a:noFill/>
        </p:spPr>
        <p:txBody>
          <a:bodyPr wrap="square" lIns="0" rIns="0" tIns="0" bIns="0" anchor="t">
            <a:spAutoFit/>
          </a:bodyPr>
          <a:lstStyle/>
          <a:p>
            <a:pPr algn="l"/>
            <a:r>
              <a:rPr sz="4000" b="0" i="1">
                <a:solidFill>
                  <a:srgbClr val="B91646"/>
                </a:solidFill>
                <a:latin typeface="Cambria"/>
              </a:rPr>
              <a:t>the problem</a:t>
            </a:r>
          </a:p>
        </p:txBody>
      </p:sp>
      <p:sp>
        <p:nvSpPr>
          <p:cNvPr id="9" name="TextBox 8"/>
          <p:cNvSpPr txBox="1"/>
          <p:nvPr/>
        </p:nvSpPr>
        <p:spPr>
          <a:xfrm>
            <a:off x="868680" y="2651760"/>
            <a:ext cx="9966960" cy="2194560"/>
          </a:xfrm>
          <a:prstGeom prst="rect">
            <a:avLst/>
          </a:prstGeom>
          <a:noFill/>
        </p:spPr>
        <p:txBody>
          <a:bodyPr wrap="square" lIns="0" rIns="0" tIns="0" bIns="0" anchor="t">
            <a:spAutoFit/>
          </a:bodyPr>
          <a:lstStyle/>
          <a:p>
            <a:pPr algn="l">
              <a:lnSpc>
                <a:spcPct val="110000"/>
              </a:lnSpc>
            </a:pPr>
            <a:r>
              <a:rPr sz="4600" b="1" i="0">
                <a:solidFill>
                  <a:srgbClr val="000000"/>
                </a:solidFill>
                <a:latin typeface="Arial"/>
              </a:rPr>
              <a:t>No brand team.</a:t>
            </a:r>
          </a:p>
          <a:p>
            <a:pPr algn="l">
              <a:lnSpc>
                <a:spcPct val="110000"/>
              </a:lnSpc>
            </a:pPr>
            <a:r>
              <a:rPr sz="4600" b="1" i="0">
                <a:solidFill>
                  <a:srgbClr val="B91646"/>
                </a:solidFill>
                <a:latin typeface="Arial"/>
              </a:rPr>
              <a:t>Every post, a new business.</a:t>
            </a:r>
          </a:p>
        </p:txBody>
      </p:sp>
      <p:sp>
        <p:nvSpPr>
          <p:cNvPr id="10" name="TextBox 9"/>
          <p:cNvSpPr txBox="1"/>
          <p:nvPr/>
        </p:nvSpPr>
        <p:spPr>
          <a:xfrm>
            <a:off x="868680" y="5074920"/>
            <a:ext cx="9509760" cy="1463040"/>
          </a:xfrm>
          <a:prstGeom prst="rect">
            <a:avLst/>
          </a:prstGeom>
          <a:noFill/>
        </p:spPr>
        <p:txBody>
          <a:bodyPr wrap="square" lIns="0" rIns="0" tIns="0" bIns="0" anchor="t">
            <a:spAutoFit/>
          </a:bodyPr>
          <a:lstStyle/>
          <a:p>
            <a:pPr algn="l"/>
            <a:r>
              <a:rPr sz="2100" b="0" i="0">
                <a:solidFill>
                  <a:srgbClr val="000000"/>
                </a:solidFill>
                <a:latin typeface="Arial"/>
              </a:rPr>
              <a:t>Cafés, restaurants and shops need fresh posters every week. They have no designer and no brand guide, so each post looks like it came from a different business.</a:t>
            </a:r>
          </a:p>
        </p:txBody>
      </p:sp>
      <p:sp>
        <p:nvSpPr>
          <p:cNvPr id="11" name="Rounded Rectangle 10"/>
          <p:cNvSpPr/>
          <p:nvPr/>
        </p:nvSpPr>
        <p:spPr>
          <a:xfrm>
            <a:off x="868680" y="6903720"/>
            <a:ext cx="3154680" cy="2011680"/>
          </a:xfrm>
          <a:prstGeom prst="roundRect">
            <a:avLst>
              <a:gd name="adj" fmla="val 6000"/>
            </a:avLst>
          </a:prstGeom>
          <a:solidFill>
            <a:srgbClr val="DFD8CA"/>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97280" y="7040880"/>
            <a:ext cx="914400" cy="457200"/>
          </a:xfrm>
          <a:prstGeom prst="rect">
            <a:avLst/>
          </a:prstGeom>
          <a:noFill/>
        </p:spPr>
        <p:txBody>
          <a:bodyPr wrap="square" lIns="0" rIns="0" tIns="0" bIns="0" anchor="t">
            <a:spAutoFit/>
          </a:bodyPr>
          <a:lstStyle/>
          <a:p>
            <a:pPr algn="l"/>
            <a:r>
              <a:rPr sz="2600" b="1" i="0">
                <a:solidFill>
                  <a:srgbClr val="B91646"/>
                </a:solidFill>
                <a:latin typeface="Arial"/>
              </a:rPr>
              <a:t>01</a:t>
            </a:r>
          </a:p>
        </p:txBody>
      </p:sp>
      <p:sp>
        <p:nvSpPr>
          <p:cNvPr id="13" name="TextBox 12"/>
          <p:cNvSpPr txBox="1"/>
          <p:nvPr/>
        </p:nvSpPr>
        <p:spPr>
          <a:xfrm>
            <a:off x="1097280" y="7571231"/>
            <a:ext cx="2743200" cy="365760"/>
          </a:xfrm>
          <a:prstGeom prst="rect">
            <a:avLst/>
          </a:prstGeom>
          <a:noFill/>
        </p:spPr>
        <p:txBody>
          <a:bodyPr wrap="square" lIns="0" rIns="0" tIns="0" bIns="0" anchor="t">
            <a:spAutoFit/>
          </a:bodyPr>
          <a:lstStyle/>
          <a:p>
            <a:pPr algn="l"/>
            <a:r>
              <a:rPr sz="1800" b="1" i="0">
                <a:solidFill>
                  <a:srgbClr val="000000"/>
                </a:solidFill>
                <a:latin typeface="Arial"/>
              </a:rPr>
              <a:t>Inconsistent look</a:t>
            </a:r>
          </a:p>
        </p:txBody>
      </p:sp>
      <p:sp>
        <p:nvSpPr>
          <p:cNvPr id="14" name="TextBox 13"/>
          <p:cNvSpPr txBox="1"/>
          <p:nvPr/>
        </p:nvSpPr>
        <p:spPr>
          <a:xfrm>
            <a:off x="1097280" y="7973568"/>
            <a:ext cx="2743200" cy="914400"/>
          </a:xfrm>
          <a:prstGeom prst="rect">
            <a:avLst/>
          </a:prstGeom>
          <a:noFill/>
        </p:spPr>
        <p:txBody>
          <a:bodyPr wrap="square" lIns="0" rIns="0" tIns="0" bIns="0" anchor="t">
            <a:spAutoFit/>
          </a:bodyPr>
          <a:lstStyle/>
          <a:p>
            <a:pPr algn="l"/>
            <a:r>
              <a:rPr sz="1300" b="0" i="0">
                <a:solidFill>
                  <a:srgbClr val="000000"/>
                </a:solidFill>
                <a:latin typeface="Arial"/>
              </a:rPr>
              <a:t>Fonts, colours and mood change post to post, so customers never remember the brand.</a:t>
            </a:r>
          </a:p>
        </p:txBody>
      </p:sp>
      <p:sp>
        <p:nvSpPr>
          <p:cNvPr id="15" name="Rounded Rectangle 14"/>
          <p:cNvSpPr/>
          <p:nvPr/>
        </p:nvSpPr>
        <p:spPr>
          <a:xfrm>
            <a:off x="4206240" y="6903720"/>
            <a:ext cx="3154680" cy="2011680"/>
          </a:xfrm>
          <a:prstGeom prst="roundRect">
            <a:avLst>
              <a:gd name="adj" fmla="val 6000"/>
            </a:avLst>
          </a:prstGeom>
          <a:solidFill>
            <a:srgbClr val="DFD8CA"/>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434840" y="7040880"/>
            <a:ext cx="914400" cy="457200"/>
          </a:xfrm>
          <a:prstGeom prst="rect">
            <a:avLst/>
          </a:prstGeom>
          <a:noFill/>
        </p:spPr>
        <p:txBody>
          <a:bodyPr wrap="square" lIns="0" rIns="0" tIns="0" bIns="0" anchor="t">
            <a:spAutoFit/>
          </a:bodyPr>
          <a:lstStyle/>
          <a:p>
            <a:pPr algn="l"/>
            <a:r>
              <a:rPr sz="2600" b="1" i="0">
                <a:solidFill>
                  <a:srgbClr val="105652"/>
                </a:solidFill>
                <a:latin typeface="Arial"/>
              </a:rPr>
              <a:t>02</a:t>
            </a:r>
          </a:p>
        </p:txBody>
      </p:sp>
      <p:sp>
        <p:nvSpPr>
          <p:cNvPr id="17" name="TextBox 16"/>
          <p:cNvSpPr txBox="1"/>
          <p:nvPr/>
        </p:nvSpPr>
        <p:spPr>
          <a:xfrm>
            <a:off x="4434840" y="7571231"/>
            <a:ext cx="2743200" cy="365760"/>
          </a:xfrm>
          <a:prstGeom prst="rect">
            <a:avLst/>
          </a:prstGeom>
          <a:noFill/>
        </p:spPr>
        <p:txBody>
          <a:bodyPr wrap="square" lIns="0" rIns="0" tIns="0" bIns="0" anchor="t">
            <a:spAutoFit/>
          </a:bodyPr>
          <a:lstStyle/>
          <a:p>
            <a:pPr algn="l"/>
            <a:r>
              <a:rPr sz="1800" b="1" i="0">
                <a:solidFill>
                  <a:srgbClr val="000000"/>
                </a:solidFill>
                <a:latin typeface="Arial"/>
              </a:rPr>
              <a:t>No memory</a:t>
            </a:r>
          </a:p>
        </p:txBody>
      </p:sp>
      <p:sp>
        <p:nvSpPr>
          <p:cNvPr id="18" name="TextBox 17"/>
          <p:cNvSpPr txBox="1"/>
          <p:nvPr/>
        </p:nvSpPr>
        <p:spPr>
          <a:xfrm>
            <a:off x="4434840" y="7973568"/>
            <a:ext cx="2743200" cy="914400"/>
          </a:xfrm>
          <a:prstGeom prst="rect">
            <a:avLst/>
          </a:prstGeom>
          <a:noFill/>
        </p:spPr>
        <p:txBody>
          <a:bodyPr wrap="square" lIns="0" rIns="0" tIns="0" bIns="0" anchor="t">
            <a:spAutoFit/>
          </a:bodyPr>
          <a:lstStyle/>
          <a:p>
            <a:pPr algn="l"/>
            <a:r>
              <a:rPr sz="1300" b="0" i="0">
                <a:solidFill>
                  <a:srgbClr val="000000"/>
                </a:solidFill>
                <a:latin typeface="Arial"/>
              </a:rPr>
              <a:t>Generic AI tools forget the brand. The owner re-explains it in every prompt.</a:t>
            </a:r>
          </a:p>
        </p:txBody>
      </p:sp>
      <p:sp>
        <p:nvSpPr>
          <p:cNvPr id="19" name="Rounded Rectangle 18"/>
          <p:cNvSpPr/>
          <p:nvPr/>
        </p:nvSpPr>
        <p:spPr>
          <a:xfrm>
            <a:off x="7543800" y="6903720"/>
            <a:ext cx="3154680" cy="2011680"/>
          </a:xfrm>
          <a:prstGeom prst="roundRect">
            <a:avLst>
              <a:gd name="adj" fmla="val 6000"/>
            </a:avLst>
          </a:prstGeom>
          <a:solidFill>
            <a:srgbClr val="DFD8CA"/>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772400" y="7040880"/>
            <a:ext cx="914400" cy="457200"/>
          </a:xfrm>
          <a:prstGeom prst="rect">
            <a:avLst/>
          </a:prstGeom>
          <a:noFill/>
        </p:spPr>
        <p:txBody>
          <a:bodyPr wrap="square" lIns="0" rIns="0" tIns="0" bIns="0" anchor="t">
            <a:spAutoFit/>
          </a:bodyPr>
          <a:lstStyle/>
          <a:p>
            <a:pPr algn="l"/>
            <a:r>
              <a:rPr sz="2600" b="1" i="0">
                <a:solidFill>
                  <a:srgbClr val="000000"/>
                </a:solidFill>
                <a:latin typeface="Arial"/>
              </a:rPr>
              <a:t>03</a:t>
            </a:r>
          </a:p>
        </p:txBody>
      </p:sp>
      <p:sp>
        <p:nvSpPr>
          <p:cNvPr id="21" name="TextBox 20"/>
          <p:cNvSpPr txBox="1"/>
          <p:nvPr/>
        </p:nvSpPr>
        <p:spPr>
          <a:xfrm>
            <a:off x="7772400" y="7571231"/>
            <a:ext cx="2743200" cy="365760"/>
          </a:xfrm>
          <a:prstGeom prst="rect">
            <a:avLst/>
          </a:prstGeom>
          <a:noFill/>
        </p:spPr>
        <p:txBody>
          <a:bodyPr wrap="square" lIns="0" rIns="0" tIns="0" bIns="0" anchor="t">
            <a:spAutoFit/>
          </a:bodyPr>
          <a:lstStyle/>
          <a:p>
            <a:pPr algn="l"/>
            <a:r>
              <a:rPr sz="1800" b="1" i="0">
                <a:solidFill>
                  <a:srgbClr val="000000"/>
                </a:solidFill>
                <a:latin typeface="Arial"/>
              </a:rPr>
              <a:t>Wrong signal</a:t>
            </a:r>
          </a:p>
        </p:txBody>
      </p:sp>
      <p:sp>
        <p:nvSpPr>
          <p:cNvPr id="22" name="TextBox 21"/>
          <p:cNvSpPr txBox="1"/>
          <p:nvPr/>
        </p:nvSpPr>
        <p:spPr>
          <a:xfrm>
            <a:off x="7772400" y="7973568"/>
            <a:ext cx="2743200" cy="914400"/>
          </a:xfrm>
          <a:prstGeom prst="rect">
            <a:avLst/>
          </a:prstGeom>
          <a:noFill/>
        </p:spPr>
        <p:txBody>
          <a:bodyPr wrap="square" lIns="0" rIns="0" tIns="0" bIns="0" anchor="t">
            <a:spAutoFit/>
          </a:bodyPr>
          <a:lstStyle/>
          <a:p>
            <a:pPr algn="l"/>
            <a:r>
              <a:rPr sz="1300" b="0" i="0">
                <a:solidFill>
                  <a:srgbClr val="000000"/>
                </a:solidFill>
                <a:latin typeface="Arial"/>
              </a:rPr>
              <a:t>A playful burger joint posts something stiff and luxury. Nobody tells the owner.</a:t>
            </a:r>
          </a:p>
        </p:txBody>
      </p:sp>
      <p:sp>
        <p:nvSpPr>
          <p:cNvPr id="23" name="Rounded Rectangle 22"/>
          <p:cNvSpPr/>
          <p:nvPr/>
        </p:nvSpPr>
        <p:spPr>
          <a:xfrm>
            <a:off x="10972800" y="1691640"/>
            <a:ext cx="6446520" cy="4572000"/>
          </a:xfrm>
          <a:prstGeom prst="roundRect">
            <a:avLst>
              <a:gd name="adj" fmla="val 4000"/>
            </a:avLst>
          </a:prstGeom>
          <a:solidFill>
            <a:srgbClr val="105652"/>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338560" y="1965960"/>
            <a:ext cx="4846320" cy="365760"/>
          </a:xfrm>
          <a:prstGeom prst="rect">
            <a:avLst/>
          </a:prstGeom>
          <a:noFill/>
        </p:spPr>
        <p:txBody>
          <a:bodyPr wrap="square" lIns="0" rIns="0" tIns="0" bIns="0" anchor="t">
            <a:spAutoFit/>
          </a:bodyPr>
          <a:lstStyle/>
          <a:p>
            <a:pPr algn="l"/>
            <a:r>
              <a:rPr sz="1600" b="1" i="0">
                <a:solidFill>
                  <a:srgbClr val="F9C041"/>
                </a:solidFill>
                <a:latin typeface="Arial"/>
              </a:rPr>
              <a:t>BUILT BY</a:t>
            </a:r>
          </a:p>
        </p:txBody>
      </p:sp>
      <p:sp>
        <p:nvSpPr>
          <p:cNvPr id="25" name="TextBox 24"/>
          <p:cNvSpPr txBox="1"/>
          <p:nvPr/>
        </p:nvSpPr>
        <p:spPr>
          <a:xfrm>
            <a:off x="11338560" y="2377440"/>
            <a:ext cx="5760720" cy="1097280"/>
          </a:xfrm>
          <a:prstGeom prst="rect">
            <a:avLst/>
          </a:prstGeom>
          <a:noFill/>
        </p:spPr>
        <p:txBody>
          <a:bodyPr wrap="square" lIns="0" rIns="0" tIns="0" bIns="0" anchor="t">
            <a:spAutoFit/>
          </a:bodyPr>
          <a:lstStyle/>
          <a:p>
            <a:pPr algn="l"/>
            <a:r>
              <a:rPr sz="6000" b="1" i="0">
                <a:solidFill>
                  <a:srgbClr val="FFFFFF"/>
                </a:solidFill>
                <a:latin typeface="Arial"/>
              </a:rPr>
              <a:t>TEAM RNN</a:t>
            </a:r>
          </a:p>
        </p:txBody>
      </p:sp>
      <p:sp>
        <p:nvSpPr>
          <p:cNvPr id="26" name="TextBox 25"/>
          <p:cNvSpPr txBox="1"/>
          <p:nvPr/>
        </p:nvSpPr>
        <p:spPr>
          <a:xfrm>
            <a:off x="11338560" y="3611880"/>
            <a:ext cx="5760720" cy="914400"/>
          </a:xfrm>
          <a:prstGeom prst="rect">
            <a:avLst/>
          </a:prstGeom>
          <a:noFill/>
        </p:spPr>
        <p:txBody>
          <a:bodyPr wrap="square" lIns="0" rIns="0" tIns="0" bIns="0" anchor="t">
            <a:spAutoFit/>
          </a:bodyPr>
          <a:lstStyle/>
          <a:p>
            <a:pPr algn="l"/>
            <a:r>
              <a:rPr sz="2100" b="0" i="0">
                <a:solidFill>
                  <a:srgbClr val="FFFFFF"/>
                </a:solidFill>
                <a:latin typeface="Arial"/>
              </a:rPr>
              <a:t>Marque.ai: the AI brand agent for Bharat's local businesses.</a:t>
            </a:r>
          </a:p>
        </p:txBody>
      </p:sp>
      <p:cxnSp>
        <p:nvCxnSpPr>
          <p:cNvPr id="27" name="Connector 26"/>
          <p:cNvCxnSpPr/>
          <p:nvPr/>
        </p:nvCxnSpPr>
        <p:spPr>
          <a:xfrm>
            <a:off x="11338560" y="4663440"/>
            <a:ext cx="5715000" cy="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1338560" y="4846320"/>
            <a:ext cx="5760720" cy="1371600"/>
          </a:xfrm>
          <a:prstGeom prst="rect">
            <a:avLst/>
          </a:prstGeom>
          <a:noFill/>
        </p:spPr>
        <p:txBody>
          <a:bodyPr wrap="square" lIns="0" rIns="0" tIns="0" bIns="0" anchor="t">
            <a:spAutoFit/>
          </a:bodyPr>
          <a:lstStyle/>
          <a:p>
            <a:pPr algn="l">
              <a:spcAft>
                <a:spcPts val="500"/>
              </a:spcAft>
            </a:pPr>
            <a:r>
              <a:rPr sz="1500" b="1" i="0">
                <a:solidFill>
                  <a:srgbClr val="F9C041"/>
                </a:solidFill>
                <a:latin typeface="Arial"/>
              </a:rPr>
              <a:t>Track  </a:t>
            </a:r>
            <a:r>
              <a:rPr sz="1500" b="0" i="0">
                <a:solidFill>
                  <a:srgbClr val="FFFFFF"/>
                </a:solidFill>
                <a:latin typeface="Arial"/>
              </a:rPr>
              <a:t>Build Your Own Problem Statement</a:t>
            </a:r>
          </a:p>
          <a:p>
            <a:pPr algn="l">
              <a:spcAft>
                <a:spcPts val="500"/>
              </a:spcAft>
            </a:pPr>
            <a:r>
              <a:rPr sz="1500" b="1" i="0">
                <a:solidFill>
                  <a:srgbClr val="F9C041"/>
                </a:solidFill>
                <a:latin typeface="Arial"/>
              </a:rPr>
              <a:t>Domain  </a:t>
            </a:r>
            <a:r>
              <a:rPr sz="1500" b="0" i="0">
                <a:solidFill>
                  <a:srgbClr val="FFFFFF"/>
                </a:solidFill>
                <a:latin typeface="Arial"/>
              </a:rPr>
              <a:t>Marketing &amp; branding for local business</a:t>
            </a:r>
          </a:p>
          <a:p>
            <a:pPr algn="l">
              <a:spcAft>
                <a:spcPts val="500"/>
              </a:spcAft>
            </a:pPr>
            <a:r>
              <a:rPr sz="1500" b="1" i="0">
                <a:solidFill>
                  <a:srgbClr val="F9C041"/>
                </a:solidFill>
                <a:latin typeface="Arial"/>
              </a:rPr>
              <a:t>Event  </a:t>
            </a:r>
            <a:r>
              <a:rPr sz="1500" b="0" i="0">
                <a:solidFill>
                  <a:srgbClr val="FFFFFF"/>
                </a:solidFill>
                <a:latin typeface="Arial"/>
              </a:rPr>
              <a:t>BharatAgentic, powered by aiKart</a:t>
            </a:r>
          </a:p>
        </p:txBody>
      </p:sp>
      <p:sp>
        <p:nvSpPr>
          <p:cNvPr id="29" name="Rounded Rectangle 28"/>
          <p:cNvSpPr/>
          <p:nvPr/>
        </p:nvSpPr>
        <p:spPr>
          <a:xfrm>
            <a:off x="10972800" y="6629400"/>
            <a:ext cx="2057400" cy="2286000"/>
          </a:xfrm>
          <a:prstGeom prst="roundRect">
            <a:avLst>
              <a:gd name="adj" fmla="val 6000"/>
            </a:avLst>
          </a:prstGeom>
          <a:solidFill>
            <a:srgbClr val="F9C041"/>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1082528" y="6949440"/>
            <a:ext cx="1837943" cy="822960"/>
          </a:xfrm>
          <a:prstGeom prst="rect">
            <a:avLst/>
          </a:prstGeom>
          <a:noFill/>
        </p:spPr>
        <p:txBody>
          <a:bodyPr wrap="square" lIns="0" rIns="0" tIns="0" bIns="0" anchor="t">
            <a:spAutoFit/>
          </a:bodyPr>
          <a:lstStyle/>
          <a:p>
            <a:pPr algn="ctr"/>
            <a:r>
              <a:rPr sz="3000" b="1" i="0">
                <a:solidFill>
                  <a:srgbClr val="000000"/>
                </a:solidFill>
                <a:latin typeface="Arial"/>
              </a:rPr>
              <a:t>5 lakh+</a:t>
            </a:r>
          </a:p>
        </p:txBody>
      </p:sp>
      <p:sp>
        <p:nvSpPr>
          <p:cNvPr id="31" name="TextBox 30"/>
          <p:cNvSpPr txBox="1"/>
          <p:nvPr/>
        </p:nvSpPr>
        <p:spPr>
          <a:xfrm>
            <a:off x="11109960" y="7772400"/>
            <a:ext cx="1783080" cy="1051560"/>
          </a:xfrm>
          <a:prstGeom prst="rect">
            <a:avLst/>
          </a:prstGeom>
          <a:noFill/>
        </p:spPr>
        <p:txBody>
          <a:bodyPr wrap="square" lIns="0" rIns="0" tIns="0" bIns="0" anchor="t">
            <a:spAutoFit/>
          </a:bodyPr>
          <a:lstStyle/>
          <a:p>
            <a:pPr algn="ctr"/>
            <a:r>
              <a:rPr sz="1200" b="0" i="0">
                <a:solidFill>
                  <a:srgbClr val="000000"/>
                </a:solidFill>
                <a:latin typeface="Arial"/>
              </a:rPr>
              <a:t>restaurants in India (NRAI)</a:t>
            </a:r>
          </a:p>
        </p:txBody>
      </p:sp>
      <p:sp>
        <p:nvSpPr>
          <p:cNvPr id="32" name="Rounded Rectangle 31"/>
          <p:cNvSpPr/>
          <p:nvPr/>
        </p:nvSpPr>
        <p:spPr>
          <a:xfrm>
            <a:off x="13167360" y="6629400"/>
            <a:ext cx="2057400" cy="2286000"/>
          </a:xfrm>
          <a:prstGeom prst="roundRect">
            <a:avLst>
              <a:gd name="adj" fmla="val 6000"/>
            </a:avLst>
          </a:prstGeom>
          <a:solidFill>
            <a:srgbClr val="FBF3E4"/>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3277088" y="6949440"/>
            <a:ext cx="1837943" cy="822960"/>
          </a:xfrm>
          <a:prstGeom prst="rect">
            <a:avLst/>
          </a:prstGeom>
          <a:noFill/>
        </p:spPr>
        <p:txBody>
          <a:bodyPr wrap="square" lIns="0" rIns="0" tIns="0" bIns="0" anchor="t">
            <a:spAutoFit/>
          </a:bodyPr>
          <a:lstStyle/>
          <a:p>
            <a:pPr algn="ctr"/>
            <a:r>
              <a:rPr sz="3000" b="1" i="0">
                <a:solidFill>
                  <a:srgbClr val="000000"/>
                </a:solidFill>
                <a:latin typeface="Arial"/>
              </a:rPr>
              <a:t>₹5.69</a:t>
            </a:r>
          </a:p>
        </p:txBody>
      </p:sp>
      <p:sp>
        <p:nvSpPr>
          <p:cNvPr id="34" name="TextBox 33"/>
          <p:cNvSpPr txBox="1"/>
          <p:nvPr/>
        </p:nvSpPr>
        <p:spPr>
          <a:xfrm>
            <a:off x="13304520" y="7772400"/>
            <a:ext cx="1783080" cy="1051560"/>
          </a:xfrm>
          <a:prstGeom prst="rect">
            <a:avLst/>
          </a:prstGeom>
          <a:noFill/>
        </p:spPr>
        <p:txBody>
          <a:bodyPr wrap="square" lIns="0" rIns="0" tIns="0" bIns="0" anchor="t">
            <a:spAutoFit/>
          </a:bodyPr>
          <a:lstStyle/>
          <a:p>
            <a:pPr algn="ctr"/>
            <a:r>
              <a:rPr sz="1200" b="0" i="0">
                <a:solidFill>
                  <a:srgbClr val="000000"/>
                </a:solidFill>
                <a:latin typeface="Arial"/>
              </a:rPr>
              <a:t>lakh crore food-service industry (NRAI)</a:t>
            </a:r>
          </a:p>
        </p:txBody>
      </p:sp>
      <p:sp>
        <p:nvSpPr>
          <p:cNvPr id="35" name="Rounded Rectangle 34"/>
          <p:cNvSpPr/>
          <p:nvPr/>
        </p:nvSpPr>
        <p:spPr>
          <a:xfrm>
            <a:off x="15361920" y="6629400"/>
            <a:ext cx="2057400" cy="2286000"/>
          </a:xfrm>
          <a:prstGeom prst="roundRect">
            <a:avLst>
              <a:gd name="adj" fmla="val 6000"/>
            </a:avLst>
          </a:prstGeom>
          <a:solidFill>
            <a:srgbClr val="FBF3E4"/>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5471648" y="6949440"/>
            <a:ext cx="1837943" cy="822960"/>
          </a:xfrm>
          <a:prstGeom prst="rect">
            <a:avLst/>
          </a:prstGeom>
          <a:noFill/>
        </p:spPr>
        <p:txBody>
          <a:bodyPr wrap="square" lIns="0" rIns="0" tIns="0" bIns="0" anchor="t">
            <a:spAutoFit/>
          </a:bodyPr>
          <a:lstStyle/>
          <a:p>
            <a:pPr algn="ctr"/>
            <a:r>
              <a:rPr sz="3000" b="1" i="0">
                <a:solidFill>
                  <a:srgbClr val="000000"/>
                </a:solidFill>
                <a:latin typeface="Arial"/>
              </a:rPr>
              <a:t>85 lakh</a:t>
            </a:r>
          </a:p>
        </p:txBody>
      </p:sp>
      <p:sp>
        <p:nvSpPr>
          <p:cNvPr id="37" name="TextBox 36"/>
          <p:cNvSpPr txBox="1"/>
          <p:nvPr/>
        </p:nvSpPr>
        <p:spPr>
          <a:xfrm>
            <a:off x="15499080" y="7772400"/>
            <a:ext cx="1783080" cy="1051560"/>
          </a:xfrm>
          <a:prstGeom prst="rect">
            <a:avLst/>
          </a:prstGeom>
          <a:noFill/>
        </p:spPr>
        <p:txBody>
          <a:bodyPr wrap="square" lIns="0" rIns="0" tIns="0" bIns="0" anchor="t">
            <a:spAutoFit/>
          </a:bodyPr>
          <a:lstStyle/>
          <a:p>
            <a:pPr algn="ctr"/>
            <a:r>
              <a:rPr sz="1200" b="0" i="0">
                <a:solidFill>
                  <a:srgbClr val="000000"/>
                </a:solidFill>
                <a:latin typeface="Arial"/>
              </a:rPr>
              <a:t>people directly employed (NRAI)</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BF3E4"/>
        </a:solidFill>
      </p:bgPr>
    </p:bg>
    <p:spTree>
      <p:nvGrpSpPr>
        <p:cNvPr id="1" name=""/>
        <p:cNvGrpSpPr/>
        <p:nvPr/>
      </p:nvGrpSpPr>
      <p:grpSpPr>
        <a:xfrm>
          <a:off x="0" y="0"/>
          <a:ext cx="0" cy="0"/>
          <a:chOff x="0" y="0"/>
          <a:chExt cx="0" cy="0"/>
        </a:xfrm>
      </p:grpSpPr>
      <p:sp>
        <p:nvSpPr>
          <p:cNvPr id="2" name="TextBox 1"/>
          <p:cNvSpPr txBox="1"/>
          <p:nvPr/>
        </p:nvSpPr>
        <p:spPr>
          <a:xfrm>
            <a:off x="868680" y="868680"/>
            <a:ext cx="7315200" cy="365760"/>
          </a:xfrm>
          <a:prstGeom prst="rect">
            <a:avLst/>
          </a:prstGeom>
          <a:noFill/>
        </p:spPr>
        <p:txBody>
          <a:bodyPr wrap="square" lIns="0" rIns="0" tIns="0" bIns="0" anchor="t">
            <a:spAutoFit/>
          </a:bodyPr>
          <a:lstStyle/>
          <a:p>
            <a:pPr algn="l"/>
            <a:r>
              <a:rPr sz="2000" b="1" i="0">
                <a:solidFill>
                  <a:srgbClr val="000000"/>
                </a:solidFill>
                <a:latin typeface="Arial"/>
              </a:rPr>
              <a:t>marque.ai</a:t>
            </a:r>
          </a:p>
        </p:txBody>
      </p:sp>
      <p:sp>
        <p:nvSpPr>
          <p:cNvPr id="3" name="TextBox 2"/>
          <p:cNvSpPr txBox="1"/>
          <p:nvPr/>
        </p:nvSpPr>
        <p:spPr>
          <a:xfrm>
            <a:off x="13898880" y="868680"/>
            <a:ext cx="3520440" cy="365760"/>
          </a:xfrm>
          <a:prstGeom prst="rect">
            <a:avLst/>
          </a:prstGeom>
          <a:noFill/>
        </p:spPr>
        <p:txBody>
          <a:bodyPr wrap="square" lIns="0" rIns="0" tIns="0" bIns="0" anchor="t">
            <a:spAutoFit/>
          </a:bodyPr>
          <a:lstStyle/>
          <a:p>
            <a:pPr algn="r"/>
            <a:r>
              <a:rPr sz="1600" b="0" i="0">
                <a:solidFill>
                  <a:srgbClr val="000000"/>
                </a:solidFill>
                <a:latin typeface="Arial"/>
              </a:rPr>
              <a:t>Page 02 of 05</a:t>
            </a:r>
          </a:p>
        </p:txBody>
      </p:sp>
      <p:sp>
        <p:nvSpPr>
          <p:cNvPr id="4" name="TextBox 3"/>
          <p:cNvSpPr txBox="1"/>
          <p:nvPr/>
        </p:nvSpPr>
        <p:spPr>
          <a:xfrm>
            <a:off x="868680" y="9235440"/>
            <a:ext cx="8229600" cy="320040"/>
          </a:xfrm>
          <a:prstGeom prst="rect">
            <a:avLst/>
          </a:prstGeom>
          <a:noFill/>
        </p:spPr>
        <p:txBody>
          <a:bodyPr wrap="square" lIns="0" rIns="0" tIns="0" bIns="0" anchor="t">
            <a:spAutoFit/>
          </a:bodyPr>
          <a:lstStyle/>
          <a:p>
            <a:pPr algn="l"/>
            <a:r>
              <a:rPr sz="1600" b="0" i="0">
                <a:solidFill>
                  <a:srgbClr val="000000"/>
                </a:solidFill>
                <a:latin typeface="Arial"/>
              </a:rPr>
              <a:t>marque.skunkworkslab.online</a:t>
            </a:r>
          </a:p>
        </p:txBody>
      </p:sp>
      <p:cxnSp>
        <p:nvCxnSpPr>
          <p:cNvPr id="5" name="Connector 4"/>
          <p:cNvCxnSpPr/>
          <p:nvPr/>
        </p:nvCxnSpPr>
        <p:spPr>
          <a:xfrm>
            <a:off x="15544800" y="9400032"/>
            <a:ext cx="187452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Isosceles Triangle 5"/>
          <p:cNvSpPr/>
          <p:nvPr/>
        </p:nvSpPr>
        <p:spPr>
          <a:xfrm rot="5400000">
            <a:off x="17263872" y="9326880"/>
            <a:ext cx="155448" cy="155448"/>
          </a:xfrm>
          <a:prstGeom prst="triangl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554480"/>
            <a:ext cx="16002000" cy="1097280"/>
          </a:xfrm>
          <a:prstGeom prst="rect">
            <a:avLst/>
          </a:prstGeom>
          <a:noFill/>
        </p:spPr>
        <p:txBody>
          <a:bodyPr wrap="square" lIns="0" rIns="0" tIns="0" bIns="0" anchor="t">
            <a:spAutoFit/>
          </a:bodyPr>
          <a:lstStyle/>
          <a:p>
            <a:pPr algn="l"/>
            <a:r>
              <a:rPr sz="5200" b="1" i="0">
                <a:solidFill>
                  <a:srgbClr val="000000"/>
                </a:solidFill>
                <a:latin typeface="Arial"/>
              </a:rPr>
              <a:t>One goal in. A checked campaign out.</a:t>
            </a:r>
          </a:p>
        </p:txBody>
      </p:sp>
      <p:sp>
        <p:nvSpPr>
          <p:cNvPr id="8" name="Rounded Rectangle 7"/>
          <p:cNvSpPr/>
          <p:nvPr/>
        </p:nvSpPr>
        <p:spPr>
          <a:xfrm>
            <a:off x="868680" y="3063240"/>
            <a:ext cx="16550640" cy="1097280"/>
          </a:xfrm>
          <a:prstGeom prst="roundRect">
            <a:avLst>
              <a:gd name="adj" fmla="val 12000"/>
            </a:avLst>
          </a:prstGeom>
          <a:solidFill>
            <a:srgbClr val="DFD8CA"/>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88720" y="3063240"/>
            <a:ext cx="3108960" cy="1097280"/>
          </a:xfrm>
          <a:prstGeom prst="rect">
            <a:avLst/>
          </a:prstGeom>
          <a:noFill/>
        </p:spPr>
        <p:txBody>
          <a:bodyPr wrap="square" lIns="0" rIns="0" tIns="0" bIns="0" anchor="ctr">
            <a:spAutoFit/>
          </a:bodyPr>
          <a:lstStyle/>
          <a:p>
            <a:pPr algn="l"/>
            <a:r>
              <a:rPr sz="2600" b="0" i="1">
                <a:solidFill>
                  <a:srgbClr val="B91646"/>
                </a:solidFill>
                <a:latin typeface="Cambria"/>
              </a:rPr>
              <a:t>owner says</a:t>
            </a:r>
          </a:p>
        </p:txBody>
      </p:sp>
      <p:sp>
        <p:nvSpPr>
          <p:cNvPr id="10" name="TextBox 9"/>
          <p:cNvSpPr txBox="1"/>
          <p:nvPr/>
        </p:nvSpPr>
        <p:spPr>
          <a:xfrm>
            <a:off x="4114800" y="3063240"/>
            <a:ext cx="8595360" cy="1097280"/>
          </a:xfrm>
          <a:prstGeom prst="rect">
            <a:avLst/>
          </a:prstGeom>
          <a:noFill/>
        </p:spPr>
        <p:txBody>
          <a:bodyPr wrap="square" lIns="0" rIns="0" tIns="0" bIns="0" anchor="ctr">
            <a:spAutoFit/>
          </a:bodyPr>
          <a:lstStyle/>
          <a:p>
            <a:pPr algn="l"/>
            <a:r>
              <a:rPr sz="2200" b="1" i="0">
                <a:solidFill>
                  <a:srgbClr val="000000"/>
                </a:solidFill>
                <a:latin typeface="Arial"/>
              </a:rPr>
              <a:t>“Launch our truffle burger at ₹399 this weekend.”</a:t>
            </a:r>
          </a:p>
        </p:txBody>
      </p:sp>
      <p:sp>
        <p:nvSpPr>
          <p:cNvPr id="11" name="TextBox 10"/>
          <p:cNvSpPr txBox="1"/>
          <p:nvPr/>
        </p:nvSpPr>
        <p:spPr>
          <a:xfrm>
            <a:off x="12801600" y="3063240"/>
            <a:ext cx="4389120" cy="1097280"/>
          </a:xfrm>
          <a:prstGeom prst="rect">
            <a:avLst/>
          </a:prstGeom>
          <a:noFill/>
        </p:spPr>
        <p:txBody>
          <a:bodyPr wrap="square" lIns="0" rIns="0" tIns="0" bIns="0" anchor="ctr">
            <a:spAutoFit/>
          </a:bodyPr>
          <a:lstStyle/>
          <a:p>
            <a:pPr algn="l"/>
            <a:r>
              <a:rPr sz="1500" b="0" i="0">
                <a:solidFill>
                  <a:srgbClr val="000000"/>
                </a:solidFill>
                <a:latin typeface="Arial"/>
              </a:rPr>
              <a:t>→ poster, Instagram post, story and WhatsApp creative, all on-brand</a:t>
            </a:r>
          </a:p>
        </p:txBody>
      </p:sp>
      <p:sp>
        <p:nvSpPr>
          <p:cNvPr id="12" name="TextBox 11"/>
          <p:cNvSpPr txBox="1"/>
          <p:nvPr/>
        </p:nvSpPr>
        <p:spPr>
          <a:xfrm>
            <a:off x="868680" y="4617720"/>
            <a:ext cx="6858000" cy="822960"/>
          </a:xfrm>
          <a:prstGeom prst="rect">
            <a:avLst/>
          </a:prstGeom>
          <a:noFill/>
        </p:spPr>
        <p:txBody>
          <a:bodyPr wrap="square" lIns="0" rIns="0" tIns="0" bIns="0" anchor="t">
            <a:spAutoFit/>
          </a:bodyPr>
          <a:lstStyle/>
          <a:p>
            <a:pPr algn="l"/>
            <a:r>
              <a:rPr sz="3400" b="1" i="0">
                <a:solidFill>
                  <a:srgbClr val="B91646"/>
                </a:solidFill>
                <a:latin typeface="Arial"/>
              </a:rPr>
              <a:t>A typical AI tool</a:t>
            </a:r>
          </a:p>
        </p:txBody>
      </p:sp>
      <p:sp>
        <p:nvSpPr>
          <p:cNvPr id="13" name="Oval 12"/>
          <p:cNvSpPr/>
          <p:nvPr/>
        </p:nvSpPr>
        <p:spPr>
          <a:xfrm>
            <a:off x="868680" y="5760720"/>
            <a:ext cx="182880" cy="182880"/>
          </a:xfrm>
          <a:prstGeom prst="ellipse">
            <a:avLst/>
          </a:prstGeom>
          <a:solidFill>
            <a:srgbClr val="B91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25880" y="5669280"/>
            <a:ext cx="7223760" cy="548640"/>
          </a:xfrm>
          <a:prstGeom prst="rect">
            <a:avLst/>
          </a:prstGeom>
          <a:noFill/>
        </p:spPr>
        <p:txBody>
          <a:bodyPr wrap="square" lIns="0" rIns="0" tIns="0" bIns="0" anchor="t">
            <a:spAutoFit/>
          </a:bodyPr>
          <a:lstStyle/>
          <a:p>
            <a:pPr algn="l"/>
            <a:r>
              <a:rPr sz="2000" b="0" i="0">
                <a:solidFill>
                  <a:srgbClr val="000000"/>
                </a:solidFill>
                <a:latin typeface="Arial"/>
              </a:rPr>
              <a:t>Waits for a long prompt every time</a:t>
            </a:r>
          </a:p>
        </p:txBody>
      </p:sp>
      <p:sp>
        <p:nvSpPr>
          <p:cNvPr id="15" name="Oval 14"/>
          <p:cNvSpPr/>
          <p:nvPr/>
        </p:nvSpPr>
        <p:spPr>
          <a:xfrm>
            <a:off x="868680" y="6510528"/>
            <a:ext cx="182880" cy="182880"/>
          </a:xfrm>
          <a:prstGeom prst="ellipse">
            <a:avLst/>
          </a:prstGeom>
          <a:solidFill>
            <a:srgbClr val="B91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325880" y="6419088"/>
            <a:ext cx="7223760" cy="548640"/>
          </a:xfrm>
          <a:prstGeom prst="rect">
            <a:avLst/>
          </a:prstGeom>
          <a:noFill/>
        </p:spPr>
        <p:txBody>
          <a:bodyPr wrap="square" lIns="0" rIns="0" tIns="0" bIns="0" anchor="t">
            <a:spAutoFit/>
          </a:bodyPr>
          <a:lstStyle/>
          <a:p>
            <a:pPr algn="l"/>
            <a:r>
              <a:rPr sz="2000" b="0" i="0">
                <a:solidFill>
                  <a:srgbClr val="000000"/>
                </a:solidFill>
                <a:latin typeface="Arial"/>
              </a:rPr>
              <a:t>Forgets your brand between chats</a:t>
            </a:r>
          </a:p>
        </p:txBody>
      </p:sp>
      <p:sp>
        <p:nvSpPr>
          <p:cNvPr id="17" name="Oval 16"/>
          <p:cNvSpPr/>
          <p:nvPr/>
        </p:nvSpPr>
        <p:spPr>
          <a:xfrm>
            <a:off x="868680" y="7260336"/>
            <a:ext cx="182880" cy="182880"/>
          </a:xfrm>
          <a:prstGeom prst="ellipse">
            <a:avLst/>
          </a:prstGeom>
          <a:solidFill>
            <a:srgbClr val="B91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25880" y="7168896"/>
            <a:ext cx="7223760" cy="548640"/>
          </a:xfrm>
          <a:prstGeom prst="rect">
            <a:avLst/>
          </a:prstGeom>
          <a:noFill/>
        </p:spPr>
        <p:txBody>
          <a:bodyPr wrap="square" lIns="0" rIns="0" tIns="0" bIns="0" anchor="t">
            <a:spAutoFit/>
          </a:bodyPr>
          <a:lstStyle/>
          <a:p>
            <a:pPr algn="l"/>
            <a:r>
              <a:rPr sz="2000" b="0" i="0">
                <a:solidFill>
                  <a:srgbClr val="000000"/>
                </a:solidFill>
                <a:latin typeface="Arial"/>
              </a:rPr>
              <a:t>Hands back one image, then stops</a:t>
            </a:r>
          </a:p>
        </p:txBody>
      </p:sp>
      <p:sp>
        <p:nvSpPr>
          <p:cNvPr id="19" name="Oval 18"/>
          <p:cNvSpPr/>
          <p:nvPr/>
        </p:nvSpPr>
        <p:spPr>
          <a:xfrm>
            <a:off x="868680" y="8010144"/>
            <a:ext cx="182880" cy="182880"/>
          </a:xfrm>
          <a:prstGeom prst="ellipse">
            <a:avLst/>
          </a:prstGeom>
          <a:solidFill>
            <a:srgbClr val="B91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325880" y="7918704"/>
            <a:ext cx="7223760" cy="548640"/>
          </a:xfrm>
          <a:prstGeom prst="rect">
            <a:avLst/>
          </a:prstGeom>
          <a:noFill/>
        </p:spPr>
        <p:txBody>
          <a:bodyPr wrap="square" lIns="0" rIns="0" tIns="0" bIns="0" anchor="t">
            <a:spAutoFit/>
          </a:bodyPr>
          <a:lstStyle/>
          <a:p>
            <a:pPr algn="l"/>
            <a:r>
              <a:rPr sz="2000" b="0" i="0">
                <a:solidFill>
                  <a:srgbClr val="000000"/>
                </a:solidFill>
                <a:latin typeface="Arial"/>
              </a:rPr>
              <a:t>Never checks its own work</a:t>
            </a:r>
          </a:p>
        </p:txBody>
      </p:sp>
      <p:cxnSp>
        <p:nvCxnSpPr>
          <p:cNvPr id="21" name="Connector 20"/>
          <p:cNvCxnSpPr/>
          <p:nvPr/>
        </p:nvCxnSpPr>
        <p:spPr>
          <a:xfrm>
            <a:off x="9006840" y="4709160"/>
            <a:ext cx="0" cy="4206240"/>
          </a:xfrm>
          <a:prstGeom prst="line">
            <a:avLst/>
          </a:prstGeom>
          <a:ln w="19050">
            <a:solidFill>
              <a:srgbClr val="7A6F5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601200" y="4617720"/>
            <a:ext cx="7315200" cy="822960"/>
          </a:xfrm>
          <a:prstGeom prst="rect">
            <a:avLst/>
          </a:prstGeom>
          <a:noFill/>
        </p:spPr>
        <p:txBody>
          <a:bodyPr wrap="square" lIns="0" rIns="0" tIns="0" bIns="0" anchor="t">
            <a:spAutoFit/>
          </a:bodyPr>
          <a:lstStyle/>
          <a:p>
            <a:pPr algn="l"/>
            <a:r>
              <a:rPr sz="3400" b="1" i="0">
                <a:solidFill>
                  <a:srgbClr val="105652"/>
                </a:solidFill>
                <a:latin typeface="Arial"/>
              </a:rPr>
              <a:t>The Marque.ai agent</a:t>
            </a:r>
          </a:p>
        </p:txBody>
      </p:sp>
      <p:sp>
        <p:nvSpPr>
          <p:cNvPr id="23" name="Oval 22"/>
          <p:cNvSpPr/>
          <p:nvPr/>
        </p:nvSpPr>
        <p:spPr>
          <a:xfrm>
            <a:off x="9601200" y="5760720"/>
            <a:ext cx="182880" cy="182880"/>
          </a:xfrm>
          <a:prstGeom prst="ellipse">
            <a:avLst/>
          </a:prstGeom>
          <a:solidFill>
            <a:srgbClr val="105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058400" y="5669280"/>
            <a:ext cx="7315200" cy="548640"/>
          </a:xfrm>
          <a:prstGeom prst="rect">
            <a:avLst/>
          </a:prstGeom>
          <a:noFill/>
        </p:spPr>
        <p:txBody>
          <a:bodyPr wrap="square" lIns="0" rIns="0" tIns="0" bIns="0" anchor="t">
            <a:spAutoFit/>
          </a:bodyPr>
          <a:lstStyle/>
          <a:p>
            <a:pPr algn="l"/>
            <a:r>
              <a:rPr sz="2000" b="0" i="0">
                <a:solidFill>
                  <a:srgbClr val="000000"/>
                </a:solidFill>
                <a:latin typeface="Arial"/>
              </a:rPr>
              <a:t>Takes a goal and writes the campaign plan</a:t>
            </a:r>
          </a:p>
        </p:txBody>
      </p:sp>
      <p:sp>
        <p:nvSpPr>
          <p:cNvPr id="25" name="Oval 24"/>
          <p:cNvSpPr/>
          <p:nvPr/>
        </p:nvSpPr>
        <p:spPr>
          <a:xfrm>
            <a:off x="9601200" y="6510528"/>
            <a:ext cx="182880" cy="182880"/>
          </a:xfrm>
          <a:prstGeom prst="ellipse">
            <a:avLst/>
          </a:prstGeom>
          <a:solidFill>
            <a:srgbClr val="105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058400" y="6419088"/>
            <a:ext cx="7315200" cy="548640"/>
          </a:xfrm>
          <a:prstGeom prst="rect">
            <a:avLst/>
          </a:prstGeom>
          <a:noFill/>
        </p:spPr>
        <p:txBody>
          <a:bodyPr wrap="square" lIns="0" rIns="0" tIns="0" bIns="0" anchor="t">
            <a:spAutoFit/>
          </a:bodyPr>
          <a:lstStyle/>
          <a:p>
            <a:pPr algn="l"/>
            <a:r>
              <a:rPr sz="2000" b="0" i="0">
                <a:solidFill>
                  <a:srgbClr val="000000"/>
                </a:solidFill>
                <a:latin typeface="Arial"/>
              </a:rPr>
              <a:t>Reads Brand Memory before every action</a:t>
            </a:r>
          </a:p>
        </p:txBody>
      </p:sp>
      <p:sp>
        <p:nvSpPr>
          <p:cNvPr id="27" name="Oval 26"/>
          <p:cNvSpPr/>
          <p:nvPr/>
        </p:nvSpPr>
        <p:spPr>
          <a:xfrm>
            <a:off x="9601200" y="7260336"/>
            <a:ext cx="182880" cy="182880"/>
          </a:xfrm>
          <a:prstGeom prst="ellipse">
            <a:avLst/>
          </a:prstGeom>
          <a:solidFill>
            <a:srgbClr val="105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058400" y="7168896"/>
            <a:ext cx="7315200" cy="548640"/>
          </a:xfrm>
          <a:prstGeom prst="rect">
            <a:avLst/>
          </a:prstGeom>
          <a:noFill/>
        </p:spPr>
        <p:txBody>
          <a:bodyPr wrap="square" lIns="0" rIns="0" tIns="0" bIns="0" anchor="t">
            <a:spAutoFit/>
          </a:bodyPr>
          <a:lstStyle/>
          <a:p>
            <a:pPr algn="l"/>
            <a:r>
              <a:rPr sz="2000" b="0" i="0">
                <a:solidFill>
                  <a:srgbClr val="000000"/>
                </a:solidFill>
                <a:latin typeface="Arial"/>
              </a:rPr>
              <a:t>Signal Check: what will the customer feel?</a:t>
            </a:r>
          </a:p>
        </p:txBody>
      </p:sp>
      <p:sp>
        <p:nvSpPr>
          <p:cNvPr id="29" name="Oval 28"/>
          <p:cNvSpPr/>
          <p:nvPr/>
        </p:nvSpPr>
        <p:spPr>
          <a:xfrm>
            <a:off x="9601200" y="8010144"/>
            <a:ext cx="182880" cy="182880"/>
          </a:xfrm>
          <a:prstGeom prst="ellipse">
            <a:avLst/>
          </a:prstGeom>
          <a:solidFill>
            <a:srgbClr val="105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58400" y="7918704"/>
            <a:ext cx="7315200" cy="548640"/>
          </a:xfrm>
          <a:prstGeom prst="rect">
            <a:avLst/>
          </a:prstGeom>
          <a:noFill/>
        </p:spPr>
        <p:txBody>
          <a:bodyPr wrap="square" lIns="0" rIns="0" tIns="0" bIns="0" anchor="t">
            <a:spAutoFit/>
          </a:bodyPr>
          <a:lstStyle/>
          <a:p>
            <a:pPr algn="l"/>
            <a:r>
              <a:rPr sz="2000" b="0" i="0">
                <a:solidFill>
                  <a:srgbClr val="000000"/>
                </a:solidFill>
                <a:latin typeface="Arial"/>
              </a:rPr>
              <a:t>Finds the gap, fixes it, re-checks (max 2 rounds)</a:t>
            </a:r>
          </a:p>
        </p:txBody>
      </p:sp>
      <p:sp>
        <p:nvSpPr>
          <p:cNvPr id="31" name="Oval 30"/>
          <p:cNvSpPr/>
          <p:nvPr/>
        </p:nvSpPr>
        <p:spPr>
          <a:xfrm>
            <a:off x="9601200" y="8759952"/>
            <a:ext cx="182880" cy="182880"/>
          </a:xfrm>
          <a:prstGeom prst="ellipse">
            <a:avLst/>
          </a:prstGeom>
          <a:solidFill>
            <a:srgbClr val="105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058400" y="8668512"/>
            <a:ext cx="7315200" cy="548640"/>
          </a:xfrm>
          <a:prstGeom prst="rect">
            <a:avLst/>
          </a:prstGeom>
          <a:noFill/>
        </p:spPr>
        <p:txBody>
          <a:bodyPr wrap="square" lIns="0" rIns="0" tIns="0" bIns="0" anchor="t">
            <a:spAutoFit/>
          </a:bodyPr>
          <a:lstStyle/>
          <a:p>
            <a:pPr algn="l"/>
            <a:r>
              <a:rPr sz="2000" b="0" i="0">
                <a:solidFill>
                  <a:srgbClr val="000000"/>
                </a:solidFill>
                <a:latin typeface="Arial"/>
              </a:rPr>
              <a:t>Stops at owner approval. Never auto-posts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BF3E4"/>
        </a:solidFill>
      </p:bgPr>
    </p:bg>
    <p:spTree>
      <p:nvGrpSpPr>
        <p:cNvPr id="1" name=""/>
        <p:cNvGrpSpPr/>
        <p:nvPr/>
      </p:nvGrpSpPr>
      <p:grpSpPr>
        <a:xfrm>
          <a:off x="0" y="0"/>
          <a:ext cx="0" cy="0"/>
          <a:chOff x="0" y="0"/>
          <a:chExt cx="0" cy="0"/>
        </a:xfrm>
      </p:grpSpPr>
      <p:sp>
        <p:nvSpPr>
          <p:cNvPr id="2" name="TextBox 1"/>
          <p:cNvSpPr txBox="1"/>
          <p:nvPr/>
        </p:nvSpPr>
        <p:spPr>
          <a:xfrm>
            <a:off x="868680" y="868680"/>
            <a:ext cx="7315200" cy="365760"/>
          </a:xfrm>
          <a:prstGeom prst="rect">
            <a:avLst/>
          </a:prstGeom>
          <a:noFill/>
        </p:spPr>
        <p:txBody>
          <a:bodyPr wrap="square" lIns="0" rIns="0" tIns="0" bIns="0" anchor="t">
            <a:spAutoFit/>
          </a:bodyPr>
          <a:lstStyle/>
          <a:p>
            <a:pPr algn="l"/>
            <a:r>
              <a:rPr sz="2000" b="1" i="0">
                <a:solidFill>
                  <a:srgbClr val="000000"/>
                </a:solidFill>
                <a:latin typeface="Arial"/>
              </a:rPr>
              <a:t>marque.ai</a:t>
            </a:r>
          </a:p>
        </p:txBody>
      </p:sp>
      <p:sp>
        <p:nvSpPr>
          <p:cNvPr id="3" name="TextBox 2"/>
          <p:cNvSpPr txBox="1"/>
          <p:nvPr/>
        </p:nvSpPr>
        <p:spPr>
          <a:xfrm>
            <a:off x="13898880" y="868680"/>
            <a:ext cx="3520440" cy="365760"/>
          </a:xfrm>
          <a:prstGeom prst="rect">
            <a:avLst/>
          </a:prstGeom>
          <a:noFill/>
        </p:spPr>
        <p:txBody>
          <a:bodyPr wrap="square" lIns="0" rIns="0" tIns="0" bIns="0" anchor="t">
            <a:spAutoFit/>
          </a:bodyPr>
          <a:lstStyle/>
          <a:p>
            <a:pPr algn="r"/>
            <a:r>
              <a:rPr sz="1600" b="0" i="0">
                <a:solidFill>
                  <a:srgbClr val="000000"/>
                </a:solidFill>
                <a:latin typeface="Arial"/>
              </a:rPr>
              <a:t>Page 03 of 05</a:t>
            </a:r>
          </a:p>
        </p:txBody>
      </p:sp>
      <p:sp>
        <p:nvSpPr>
          <p:cNvPr id="4" name="TextBox 3"/>
          <p:cNvSpPr txBox="1"/>
          <p:nvPr/>
        </p:nvSpPr>
        <p:spPr>
          <a:xfrm>
            <a:off x="868680" y="9235440"/>
            <a:ext cx="8229600" cy="320040"/>
          </a:xfrm>
          <a:prstGeom prst="rect">
            <a:avLst/>
          </a:prstGeom>
          <a:noFill/>
        </p:spPr>
        <p:txBody>
          <a:bodyPr wrap="square" lIns="0" rIns="0" tIns="0" bIns="0" anchor="t">
            <a:spAutoFit/>
          </a:bodyPr>
          <a:lstStyle/>
          <a:p>
            <a:pPr algn="l"/>
            <a:r>
              <a:rPr sz="1600" b="0" i="0">
                <a:solidFill>
                  <a:srgbClr val="000000"/>
                </a:solidFill>
                <a:latin typeface="Arial"/>
              </a:rPr>
              <a:t>marque.skunkworkslab.online</a:t>
            </a:r>
          </a:p>
        </p:txBody>
      </p:sp>
      <p:cxnSp>
        <p:nvCxnSpPr>
          <p:cNvPr id="5" name="Connector 4"/>
          <p:cNvCxnSpPr/>
          <p:nvPr/>
        </p:nvCxnSpPr>
        <p:spPr>
          <a:xfrm>
            <a:off x="15544800" y="9400032"/>
            <a:ext cx="187452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Isosceles Triangle 5"/>
          <p:cNvSpPr/>
          <p:nvPr/>
        </p:nvSpPr>
        <p:spPr>
          <a:xfrm rot="5400000">
            <a:off x="17263872" y="9326880"/>
            <a:ext cx="155448" cy="155448"/>
          </a:xfrm>
          <a:prstGeom prst="triangl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554480"/>
            <a:ext cx="16002000" cy="1097280"/>
          </a:xfrm>
          <a:prstGeom prst="rect">
            <a:avLst/>
          </a:prstGeom>
          <a:noFill/>
        </p:spPr>
        <p:txBody>
          <a:bodyPr wrap="square" lIns="0" rIns="0" tIns="0" bIns="0" anchor="t">
            <a:spAutoFit/>
          </a:bodyPr>
          <a:lstStyle/>
          <a:p>
            <a:pPr algn="l"/>
            <a:r>
              <a:rPr sz="5600" b="1" i="0">
                <a:solidFill>
                  <a:srgbClr val="000000"/>
                </a:solidFill>
                <a:latin typeface="Arial"/>
              </a:rPr>
              <a:t>The agent loop</a:t>
            </a:r>
          </a:p>
        </p:txBody>
      </p:sp>
      <p:sp>
        <p:nvSpPr>
          <p:cNvPr id="8" name="TextBox 7"/>
          <p:cNvSpPr txBox="1"/>
          <p:nvPr/>
        </p:nvSpPr>
        <p:spPr>
          <a:xfrm>
            <a:off x="7680960" y="1691640"/>
            <a:ext cx="9738360" cy="914400"/>
          </a:xfrm>
          <a:prstGeom prst="rect">
            <a:avLst/>
          </a:prstGeom>
          <a:noFill/>
        </p:spPr>
        <p:txBody>
          <a:bodyPr wrap="square" lIns="0" rIns="0" tIns="0" bIns="0" anchor="ctr">
            <a:spAutoFit/>
          </a:bodyPr>
          <a:lstStyle/>
          <a:p>
            <a:pPr algn="r"/>
            <a:r>
              <a:rPr sz="2000" b="0" i="0">
                <a:solidFill>
                  <a:srgbClr val="000000"/>
                </a:solidFill>
                <a:latin typeface="Arial"/>
              </a:rPr>
              <a:t>plan, act, observe, critique, revise. A human approves at the end.</a:t>
            </a:r>
          </a:p>
        </p:txBody>
      </p:sp>
      <p:sp>
        <p:nvSpPr>
          <p:cNvPr id="9" name="Rounded Rectangle 8"/>
          <p:cNvSpPr/>
          <p:nvPr/>
        </p:nvSpPr>
        <p:spPr>
          <a:xfrm>
            <a:off x="868680" y="3108960"/>
            <a:ext cx="16550640" cy="3017520"/>
          </a:xfrm>
          <a:prstGeom prst="roundRect">
            <a:avLst>
              <a:gd name="adj" fmla="val 5000"/>
            </a:avLst>
          </a:prstGeom>
          <a:solidFill>
            <a:srgbClr val="DFD8CA"/>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 name="Connector 9"/>
          <p:cNvCxnSpPr/>
          <p:nvPr/>
        </p:nvCxnSpPr>
        <p:spPr>
          <a:xfrm>
            <a:off x="1371600" y="4023360"/>
            <a:ext cx="1554480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53588" y="3273552"/>
            <a:ext cx="2194560" cy="548640"/>
          </a:xfrm>
          <a:prstGeom prst="rect">
            <a:avLst/>
          </a:prstGeom>
          <a:noFill/>
        </p:spPr>
        <p:txBody>
          <a:bodyPr wrap="square" lIns="0" rIns="0" tIns="0" bIns="0" anchor="t">
            <a:spAutoFit/>
          </a:bodyPr>
          <a:lstStyle/>
          <a:p>
            <a:pPr algn="ctr"/>
            <a:r>
              <a:rPr sz="2800" b="1" i="0">
                <a:solidFill>
                  <a:srgbClr val="000000"/>
                </a:solidFill>
                <a:latin typeface="Arial"/>
              </a:rPr>
              <a:t>01</a:t>
            </a:r>
          </a:p>
        </p:txBody>
      </p:sp>
      <p:sp>
        <p:nvSpPr>
          <p:cNvPr id="12" name="Oval 11"/>
          <p:cNvSpPr/>
          <p:nvPr/>
        </p:nvSpPr>
        <p:spPr>
          <a:xfrm>
            <a:off x="1941140" y="3913632"/>
            <a:ext cx="219456" cy="219456"/>
          </a:xfrm>
          <a:prstGeom prst="ellipse">
            <a:avLst/>
          </a:prstGeom>
          <a:solidFill>
            <a:srgbClr val="B9164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07868" y="4297680"/>
            <a:ext cx="2286000" cy="457200"/>
          </a:xfrm>
          <a:prstGeom prst="rect">
            <a:avLst/>
          </a:prstGeom>
          <a:noFill/>
        </p:spPr>
        <p:txBody>
          <a:bodyPr wrap="square" lIns="0" rIns="0" tIns="0" bIns="0" anchor="t">
            <a:spAutoFit/>
          </a:bodyPr>
          <a:lstStyle/>
          <a:p>
            <a:pPr algn="ctr"/>
            <a:r>
              <a:rPr sz="2000" b="1" i="0">
                <a:solidFill>
                  <a:srgbClr val="000000"/>
                </a:solidFill>
                <a:latin typeface="Arial"/>
              </a:rPr>
              <a:t>UNDERSTAND</a:t>
            </a:r>
          </a:p>
        </p:txBody>
      </p:sp>
      <p:sp>
        <p:nvSpPr>
          <p:cNvPr id="14" name="TextBox 13"/>
          <p:cNvSpPr txBox="1"/>
          <p:nvPr/>
        </p:nvSpPr>
        <p:spPr>
          <a:xfrm>
            <a:off x="953588" y="4892040"/>
            <a:ext cx="2194560" cy="1463040"/>
          </a:xfrm>
          <a:prstGeom prst="rect">
            <a:avLst/>
          </a:prstGeom>
          <a:noFill/>
        </p:spPr>
        <p:txBody>
          <a:bodyPr wrap="square" lIns="0" rIns="0" tIns="0" bIns="0" anchor="t">
            <a:spAutoFit/>
          </a:bodyPr>
          <a:lstStyle/>
          <a:p>
            <a:pPr algn="ctr"/>
            <a:r>
              <a:rPr sz="1400" b="0" i="0">
                <a:solidFill>
                  <a:srgbClr val="000000"/>
                </a:solidFill>
                <a:latin typeface="Arial"/>
              </a:rPr>
              <a:t>Reads the goal, loads Brand Memory</a:t>
            </a:r>
          </a:p>
        </p:txBody>
      </p:sp>
      <p:sp>
        <p:nvSpPr>
          <p:cNvPr id="15" name="TextBox 14"/>
          <p:cNvSpPr txBox="1"/>
          <p:nvPr/>
        </p:nvSpPr>
        <p:spPr>
          <a:xfrm>
            <a:off x="3317965" y="3273552"/>
            <a:ext cx="2194560" cy="548640"/>
          </a:xfrm>
          <a:prstGeom prst="rect">
            <a:avLst/>
          </a:prstGeom>
          <a:noFill/>
        </p:spPr>
        <p:txBody>
          <a:bodyPr wrap="square" lIns="0" rIns="0" tIns="0" bIns="0" anchor="t">
            <a:spAutoFit/>
          </a:bodyPr>
          <a:lstStyle/>
          <a:p>
            <a:pPr algn="ctr"/>
            <a:r>
              <a:rPr sz="2800" b="1" i="0">
                <a:solidFill>
                  <a:srgbClr val="000000"/>
                </a:solidFill>
                <a:latin typeface="Arial"/>
              </a:rPr>
              <a:t>02</a:t>
            </a:r>
          </a:p>
        </p:txBody>
      </p:sp>
      <p:sp>
        <p:nvSpPr>
          <p:cNvPr id="16" name="Oval 15"/>
          <p:cNvSpPr/>
          <p:nvPr/>
        </p:nvSpPr>
        <p:spPr>
          <a:xfrm>
            <a:off x="4305517" y="3913632"/>
            <a:ext cx="219456" cy="219456"/>
          </a:xfrm>
          <a:prstGeom prst="ellipse">
            <a:avLst/>
          </a:prstGeom>
          <a:solidFill>
            <a:srgbClr val="105652"/>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272245" y="4297680"/>
            <a:ext cx="2286000" cy="457200"/>
          </a:xfrm>
          <a:prstGeom prst="rect">
            <a:avLst/>
          </a:prstGeom>
          <a:noFill/>
        </p:spPr>
        <p:txBody>
          <a:bodyPr wrap="square" lIns="0" rIns="0" tIns="0" bIns="0" anchor="t">
            <a:spAutoFit/>
          </a:bodyPr>
          <a:lstStyle/>
          <a:p>
            <a:pPr algn="ctr"/>
            <a:r>
              <a:rPr sz="2000" b="1" i="0">
                <a:solidFill>
                  <a:srgbClr val="000000"/>
                </a:solidFill>
                <a:latin typeface="Arial"/>
              </a:rPr>
              <a:t>PLAN</a:t>
            </a:r>
          </a:p>
        </p:txBody>
      </p:sp>
      <p:sp>
        <p:nvSpPr>
          <p:cNvPr id="18" name="TextBox 17"/>
          <p:cNvSpPr txBox="1"/>
          <p:nvPr/>
        </p:nvSpPr>
        <p:spPr>
          <a:xfrm>
            <a:off x="3317965" y="4892040"/>
            <a:ext cx="2194560" cy="1463040"/>
          </a:xfrm>
          <a:prstGeom prst="rect">
            <a:avLst/>
          </a:prstGeom>
          <a:noFill/>
        </p:spPr>
        <p:txBody>
          <a:bodyPr wrap="square" lIns="0" rIns="0" tIns="0" bIns="0" anchor="t">
            <a:spAutoFit/>
          </a:bodyPr>
          <a:lstStyle/>
          <a:p>
            <a:pPr algn="ctr"/>
            <a:r>
              <a:rPr sz="1400" b="0" i="0">
                <a:solidFill>
                  <a:srgbClr val="000000"/>
                </a:solidFill>
                <a:latin typeface="Arial"/>
              </a:rPr>
              <a:t>One core message, asset list, image needs</a:t>
            </a:r>
          </a:p>
        </p:txBody>
      </p:sp>
      <p:sp>
        <p:nvSpPr>
          <p:cNvPr id="19" name="TextBox 18"/>
          <p:cNvSpPr txBox="1"/>
          <p:nvPr/>
        </p:nvSpPr>
        <p:spPr>
          <a:xfrm>
            <a:off x="5682342" y="3273552"/>
            <a:ext cx="2194560" cy="548640"/>
          </a:xfrm>
          <a:prstGeom prst="rect">
            <a:avLst/>
          </a:prstGeom>
          <a:noFill/>
        </p:spPr>
        <p:txBody>
          <a:bodyPr wrap="square" lIns="0" rIns="0" tIns="0" bIns="0" anchor="t">
            <a:spAutoFit/>
          </a:bodyPr>
          <a:lstStyle/>
          <a:p>
            <a:pPr algn="ctr"/>
            <a:r>
              <a:rPr sz="2800" b="1" i="0">
                <a:solidFill>
                  <a:srgbClr val="000000"/>
                </a:solidFill>
                <a:latin typeface="Arial"/>
              </a:rPr>
              <a:t>03</a:t>
            </a:r>
          </a:p>
        </p:txBody>
      </p:sp>
      <p:sp>
        <p:nvSpPr>
          <p:cNvPr id="20" name="Oval 19"/>
          <p:cNvSpPr/>
          <p:nvPr/>
        </p:nvSpPr>
        <p:spPr>
          <a:xfrm>
            <a:off x="6669894" y="3913632"/>
            <a:ext cx="219456" cy="219456"/>
          </a:xfrm>
          <a:prstGeom prst="ellipse">
            <a:avLst/>
          </a:prstGeom>
          <a:solidFill>
            <a:srgbClr val="F9C041"/>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636622" y="4297680"/>
            <a:ext cx="2286000" cy="457200"/>
          </a:xfrm>
          <a:prstGeom prst="rect">
            <a:avLst/>
          </a:prstGeom>
          <a:noFill/>
        </p:spPr>
        <p:txBody>
          <a:bodyPr wrap="square" lIns="0" rIns="0" tIns="0" bIns="0" anchor="t">
            <a:spAutoFit/>
          </a:bodyPr>
          <a:lstStyle/>
          <a:p>
            <a:pPr algn="ctr"/>
            <a:r>
              <a:rPr sz="2000" b="1" i="0">
                <a:solidFill>
                  <a:srgbClr val="000000"/>
                </a:solidFill>
                <a:latin typeface="Arial"/>
              </a:rPr>
              <a:t>ACT</a:t>
            </a:r>
          </a:p>
        </p:txBody>
      </p:sp>
      <p:sp>
        <p:nvSpPr>
          <p:cNvPr id="22" name="TextBox 21"/>
          <p:cNvSpPr txBox="1"/>
          <p:nvPr/>
        </p:nvSpPr>
        <p:spPr>
          <a:xfrm>
            <a:off x="5682342" y="4892040"/>
            <a:ext cx="2194560" cy="1463040"/>
          </a:xfrm>
          <a:prstGeom prst="rect">
            <a:avLst/>
          </a:prstGeom>
          <a:noFill/>
        </p:spPr>
        <p:txBody>
          <a:bodyPr wrap="square" lIns="0" rIns="0" tIns="0" bIns="0" anchor="t">
            <a:spAutoFit/>
          </a:bodyPr>
          <a:lstStyle/>
          <a:p>
            <a:pPr algn="ctr"/>
            <a:r>
              <a:rPr sz="1400" b="0" i="0">
                <a:solidFill>
                  <a:srgbClr val="000000"/>
                </a:solidFill>
                <a:latin typeface="Arial"/>
              </a:rPr>
              <a:t>Copy, background image and templates, in parallel</a:t>
            </a:r>
          </a:p>
        </p:txBody>
      </p:sp>
      <p:sp>
        <p:nvSpPr>
          <p:cNvPr id="23" name="TextBox 22"/>
          <p:cNvSpPr txBox="1"/>
          <p:nvPr/>
        </p:nvSpPr>
        <p:spPr>
          <a:xfrm>
            <a:off x="8046720" y="3273552"/>
            <a:ext cx="2194560" cy="548640"/>
          </a:xfrm>
          <a:prstGeom prst="rect">
            <a:avLst/>
          </a:prstGeom>
          <a:noFill/>
        </p:spPr>
        <p:txBody>
          <a:bodyPr wrap="square" lIns="0" rIns="0" tIns="0" bIns="0" anchor="t">
            <a:spAutoFit/>
          </a:bodyPr>
          <a:lstStyle/>
          <a:p>
            <a:pPr algn="ctr"/>
            <a:r>
              <a:rPr sz="2800" b="1" i="0">
                <a:solidFill>
                  <a:srgbClr val="000000"/>
                </a:solidFill>
                <a:latin typeface="Arial"/>
              </a:rPr>
              <a:t>04</a:t>
            </a:r>
          </a:p>
        </p:txBody>
      </p:sp>
      <p:sp>
        <p:nvSpPr>
          <p:cNvPr id="24" name="Oval 23"/>
          <p:cNvSpPr/>
          <p:nvPr/>
        </p:nvSpPr>
        <p:spPr>
          <a:xfrm>
            <a:off x="9034272" y="3913632"/>
            <a:ext cx="219456" cy="219456"/>
          </a:xfrm>
          <a:prstGeom prst="ellipse">
            <a:avLst/>
          </a:prstGeom>
          <a:solidFill>
            <a:srgbClr val="B9164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001000" y="4297680"/>
            <a:ext cx="2286000" cy="457200"/>
          </a:xfrm>
          <a:prstGeom prst="rect">
            <a:avLst/>
          </a:prstGeom>
          <a:noFill/>
        </p:spPr>
        <p:txBody>
          <a:bodyPr wrap="square" lIns="0" rIns="0" tIns="0" bIns="0" anchor="t">
            <a:spAutoFit/>
          </a:bodyPr>
          <a:lstStyle/>
          <a:p>
            <a:pPr algn="ctr"/>
            <a:r>
              <a:rPr sz="2000" b="1" i="0">
                <a:solidFill>
                  <a:srgbClr val="000000"/>
                </a:solidFill>
                <a:latin typeface="Arial"/>
              </a:rPr>
              <a:t>OBSERVE</a:t>
            </a:r>
          </a:p>
        </p:txBody>
      </p:sp>
      <p:sp>
        <p:nvSpPr>
          <p:cNvPr id="26" name="TextBox 25"/>
          <p:cNvSpPr txBox="1"/>
          <p:nvPr/>
        </p:nvSpPr>
        <p:spPr>
          <a:xfrm>
            <a:off x="8046720" y="4892040"/>
            <a:ext cx="2194560" cy="1463040"/>
          </a:xfrm>
          <a:prstGeom prst="rect">
            <a:avLst/>
          </a:prstGeom>
          <a:noFill/>
        </p:spPr>
        <p:txBody>
          <a:bodyPr wrap="square" lIns="0" rIns="0" tIns="0" bIns="0" anchor="t">
            <a:spAutoFit/>
          </a:bodyPr>
          <a:lstStyle/>
          <a:p>
            <a:pPr algn="ctr"/>
            <a:r>
              <a:rPr sz="1400" b="0" i="0">
                <a:solidFill>
                  <a:srgbClr val="000000"/>
                </a:solidFill>
                <a:latin typeface="Arial"/>
              </a:rPr>
              <a:t>Brand Rules Check (code) + Signal Check (vision AI)</a:t>
            </a:r>
          </a:p>
        </p:txBody>
      </p:sp>
      <p:sp>
        <p:nvSpPr>
          <p:cNvPr id="27" name="TextBox 26"/>
          <p:cNvSpPr txBox="1"/>
          <p:nvPr/>
        </p:nvSpPr>
        <p:spPr>
          <a:xfrm>
            <a:off x="10411097" y="3273552"/>
            <a:ext cx="2194560" cy="548640"/>
          </a:xfrm>
          <a:prstGeom prst="rect">
            <a:avLst/>
          </a:prstGeom>
          <a:noFill/>
        </p:spPr>
        <p:txBody>
          <a:bodyPr wrap="square" lIns="0" rIns="0" tIns="0" bIns="0" anchor="t">
            <a:spAutoFit/>
          </a:bodyPr>
          <a:lstStyle/>
          <a:p>
            <a:pPr algn="ctr"/>
            <a:r>
              <a:rPr sz="2800" b="1" i="0">
                <a:solidFill>
                  <a:srgbClr val="000000"/>
                </a:solidFill>
                <a:latin typeface="Arial"/>
              </a:rPr>
              <a:t>05</a:t>
            </a:r>
          </a:p>
        </p:txBody>
      </p:sp>
      <p:sp>
        <p:nvSpPr>
          <p:cNvPr id="28" name="Oval 27"/>
          <p:cNvSpPr/>
          <p:nvPr/>
        </p:nvSpPr>
        <p:spPr>
          <a:xfrm>
            <a:off x="11398649" y="3913632"/>
            <a:ext cx="219456" cy="219456"/>
          </a:xfrm>
          <a:prstGeom prst="ellipse">
            <a:avLst/>
          </a:prstGeom>
          <a:solidFill>
            <a:srgbClr val="105652"/>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365377" y="4297680"/>
            <a:ext cx="2286000" cy="457200"/>
          </a:xfrm>
          <a:prstGeom prst="rect">
            <a:avLst/>
          </a:prstGeom>
          <a:noFill/>
        </p:spPr>
        <p:txBody>
          <a:bodyPr wrap="square" lIns="0" rIns="0" tIns="0" bIns="0" anchor="t">
            <a:spAutoFit/>
          </a:bodyPr>
          <a:lstStyle/>
          <a:p>
            <a:pPr algn="ctr"/>
            <a:r>
              <a:rPr sz="2000" b="1" i="0">
                <a:solidFill>
                  <a:srgbClr val="000000"/>
                </a:solidFill>
                <a:latin typeface="Arial"/>
              </a:rPr>
              <a:t>REVISE</a:t>
            </a:r>
          </a:p>
        </p:txBody>
      </p:sp>
      <p:sp>
        <p:nvSpPr>
          <p:cNvPr id="30" name="TextBox 29"/>
          <p:cNvSpPr txBox="1"/>
          <p:nvPr/>
        </p:nvSpPr>
        <p:spPr>
          <a:xfrm>
            <a:off x="10411097" y="4892040"/>
            <a:ext cx="2194560" cy="1463040"/>
          </a:xfrm>
          <a:prstGeom prst="rect">
            <a:avLst/>
          </a:prstGeom>
          <a:noFill/>
        </p:spPr>
        <p:txBody>
          <a:bodyPr wrap="square" lIns="0" rIns="0" tIns="0" bIns="0" anchor="t">
            <a:spAutoFit/>
          </a:bodyPr>
          <a:lstStyle/>
          <a:p>
            <a:pPr algn="ctr"/>
            <a:r>
              <a:rPr sz="1400" b="0" i="0">
                <a:solidFill>
                  <a:srgbClr val="000000"/>
                </a:solidFill>
                <a:latin typeface="Arial"/>
              </a:rPr>
              <a:t>Changes style knobs, re-renders failing assets</a:t>
            </a:r>
          </a:p>
        </p:txBody>
      </p:sp>
      <p:sp>
        <p:nvSpPr>
          <p:cNvPr id="31" name="TextBox 30"/>
          <p:cNvSpPr txBox="1"/>
          <p:nvPr/>
        </p:nvSpPr>
        <p:spPr>
          <a:xfrm>
            <a:off x="12775474" y="3273552"/>
            <a:ext cx="2194560" cy="548640"/>
          </a:xfrm>
          <a:prstGeom prst="rect">
            <a:avLst/>
          </a:prstGeom>
          <a:noFill/>
        </p:spPr>
        <p:txBody>
          <a:bodyPr wrap="square" lIns="0" rIns="0" tIns="0" bIns="0" anchor="t">
            <a:spAutoFit/>
          </a:bodyPr>
          <a:lstStyle/>
          <a:p>
            <a:pPr algn="ctr"/>
            <a:r>
              <a:rPr sz="2800" b="1" i="0">
                <a:solidFill>
                  <a:srgbClr val="000000"/>
                </a:solidFill>
                <a:latin typeface="Arial"/>
              </a:rPr>
              <a:t>06</a:t>
            </a:r>
          </a:p>
        </p:txBody>
      </p:sp>
      <p:sp>
        <p:nvSpPr>
          <p:cNvPr id="32" name="Oval 31"/>
          <p:cNvSpPr/>
          <p:nvPr/>
        </p:nvSpPr>
        <p:spPr>
          <a:xfrm>
            <a:off x="13763026" y="3913632"/>
            <a:ext cx="219456" cy="219456"/>
          </a:xfrm>
          <a:prstGeom prst="ellipse">
            <a:avLst/>
          </a:prstGeom>
          <a:solidFill>
            <a:srgbClr val="F9C041"/>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2729754" y="4297680"/>
            <a:ext cx="2286000" cy="457200"/>
          </a:xfrm>
          <a:prstGeom prst="rect">
            <a:avLst/>
          </a:prstGeom>
          <a:noFill/>
        </p:spPr>
        <p:txBody>
          <a:bodyPr wrap="square" lIns="0" rIns="0" tIns="0" bIns="0" anchor="t">
            <a:spAutoFit/>
          </a:bodyPr>
          <a:lstStyle/>
          <a:p>
            <a:pPr algn="ctr"/>
            <a:r>
              <a:rPr sz="2000" b="1" i="0">
                <a:solidFill>
                  <a:srgbClr val="000000"/>
                </a:solidFill>
                <a:latin typeface="Arial"/>
              </a:rPr>
              <a:t>RE-CHECK</a:t>
            </a:r>
          </a:p>
        </p:txBody>
      </p:sp>
      <p:sp>
        <p:nvSpPr>
          <p:cNvPr id="34" name="TextBox 33"/>
          <p:cNvSpPr txBox="1"/>
          <p:nvPr/>
        </p:nvSpPr>
        <p:spPr>
          <a:xfrm>
            <a:off x="12775474" y="4892040"/>
            <a:ext cx="2194560" cy="1463040"/>
          </a:xfrm>
          <a:prstGeom prst="rect">
            <a:avLst/>
          </a:prstGeom>
          <a:noFill/>
        </p:spPr>
        <p:txBody>
          <a:bodyPr wrap="square" lIns="0" rIns="0" tIns="0" bIns="0" anchor="t">
            <a:spAutoFit/>
          </a:bodyPr>
          <a:lstStyle/>
          <a:p>
            <a:pPr algn="ctr"/>
            <a:r>
              <a:rPr sz="1400" b="0" i="0">
                <a:solidFill>
                  <a:srgbClr val="000000"/>
                </a:solidFill>
                <a:latin typeface="Arial"/>
              </a:rPr>
              <a:t>Stops after 2 rounds and says what is left</a:t>
            </a:r>
          </a:p>
        </p:txBody>
      </p:sp>
      <p:sp>
        <p:nvSpPr>
          <p:cNvPr id="35" name="TextBox 34"/>
          <p:cNvSpPr txBox="1"/>
          <p:nvPr/>
        </p:nvSpPr>
        <p:spPr>
          <a:xfrm>
            <a:off x="15139851" y="3273552"/>
            <a:ext cx="2194560" cy="548640"/>
          </a:xfrm>
          <a:prstGeom prst="rect">
            <a:avLst/>
          </a:prstGeom>
          <a:noFill/>
        </p:spPr>
        <p:txBody>
          <a:bodyPr wrap="square" lIns="0" rIns="0" tIns="0" bIns="0" anchor="t">
            <a:spAutoFit/>
          </a:bodyPr>
          <a:lstStyle/>
          <a:p>
            <a:pPr algn="ctr"/>
            <a:r>
              <a:rPr sz="2800" b="1" i="0">
                <a:solidFill>
                  <a:srgbClr val="000000"/>
                </a:solidFill>
                <a:latin typeface="Arial"/>
              </a:rPr>
              <a:t>07</a:t>
            </a:r>
          </a:p>
        </p:txBody>
      </p:sp>
      <p:sp>
        <p:nvSpPr>
          <p:cNvPr id="36" name="Oval 35"/>
          <p:cNvSpPr/>
          <p:nvPr/>
        </p:nvSpPr>
        <p:spPr>
          <a:xfrm>
            <a:off x="16127403" y="3913632"/>
            <a:ext cx="219456" cy="219456"/>
          </a:xfrm>
          <a:prstGeom prst="ellipse">
            <a:avLst/>
          </a:prstGeom>
          <a:solidFill>
            <a:srgbClr val="B9164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5094131" y="4297680"/>
            <a:ext cx="2286000" cy="457200"/>
          </a:xfrm>
          <a:prstGeom prst="rect">
            <a:avLst/>
          </a:prstGeom>
          <a:noFill/>
        </p:spPr>
        <p:txBody>
          <a:bodyPr wrap="square" lIns="0" rIns="0" tIns="0" bIns="0" anchor="t">
            <a:spAutoFit/>
          </a:bodyPr>
          <a:lstStyle/>
          <a:p>
            <a:pPr algn="ctr"/>
            <a:r>
              <a:rPr sz="2000" b="1" i="0">
                <a:solidFill>
                  <a:srgbClr val="000000"/>
                </a:solidFill>
                <a:latin typeface="Arial"/>
              </a:rPr>
              <a:t>APPROVE</a:t>
            </a:r>
          </a:p>
        </p:txBody>
      </p:sp>
      <p:sp>
        <p:nvSpPr>
          <p:cNvPr id="38" name="TextBox 37"/>
          <p:cNvSpPr txBox="1"/>
          <p:nvPr/>
        </p:nvSpPr>
        <p:spPr>
          <a:xfrm>
            <a:off x="15139851" y="4892040"/>
            <a:ext cx="2194560" cy="1463040"/>
          </a:xfrm>
          <a:prstGeom prst="rect">
            <a:avLst/>
          </a:prstGeom>
          <a:noFill/>
        </p:spPr>
        <p:txBody>
          <a:bodyPr wrap="square" lIns="0" rIns="0" tIns="0" bIns="0" anchor="t">
            <a:spAutoFit/>
          </a:bodyPr>
          <a:lstStyle/>
          <a:p>
            <a:pPr algn="ctr"/>
            <a:r>
              <a:rPr sz="1400" b="0" i="0">
                <a:solidFill>
                  <a:srgbClr val="000000"/>
                </a:solidFill>
                <a:latin typeface="Arial"/>
              </a:rPr>
              <a:t>Owner edits, approves, exports</a:t>
            </a:r>
          </a:p>
        </p:txBody>
      </p:sp>
      <p:sp>
        <p:nvSpPr>
          <p:cNvPr id="39" name="Rounded Rectangle 38"/>
          <p:cNvSpPr/>
          <p:nvPr/>
        </p:nvSpPr>
        <p:spPr>
          <a:xfrm>
            <a:off x="868680" y="6446520"/>
            <a:ext cx="8138160" cy="2514600"/>
          </a:xfrm>
          <a:prstGeom prst="roundRect">
            <a:avLst>
              <a:gd name="adj" fmla="val 6000"/>
            </a:avLst>
          </a:prstGeom>
          <a:solidFill>
            <a:srgbClr val="FBF3E4"/>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188720" y="6629400"/>
            <a:ext cx="7498079" cy="548640"/>
          </a:xfrm>
          <a:prstGeom prst="rect">
            <a:avLst/>
          </a:prstGeom>
          <a:noFill/>
        </p:spPr>
        <p:txBody>
          <a:bodyPr wrap="square" lIns="0" rIns="0" tIns="0" bIns="0" anchor="t">
            <a:spAutoFit/>
          </a:bodyPr>
          <a:lstStyle/>
          <a:p>
            <a:pPr algn="l"/>
            <a:r>
              <a:rPr sz="2600" b="1" i="0">
                <a:solidFill>
                  <a:srgbClr val="105652"/>
                </a:solidFill>
                <a:latin typeface="Arial"/>
              </a:rPr>
              <a:t>TOOLS + MEMORY</a:t>
            </a:r>
          </a:p>
        </p:txBody>
      </p:sp>
      <p:sp>
        <p:nvSpPr>
          <p:cNvPr id="41" name="TextBox 40"/>
          <p:cNvSpPr txBox="1"/>
          <p:nvPr/>
        </p:nvSpPr>
        <p:spPr>
          <a:xfrm>
            <a:off x="1188720" y="7269480"/>
            <a:ext cx="7589520" cy="1645920"/>
          </a:xfrm>
          <a:prstGeom prst="rect">
            <a:avLst/>
          </a:prstGeom>
          <a:noFill/>
        </p:spPr>
        <p:txBody>
          <a:bodyPr wrap="square" lIns="0" rIns="0" tIns="0" bIns="0" anchor="t">
            <a:spAutoFit/>
          </a:bodyPr>
          <a:lstStyle/>
          <a:p>
            <a:pPr algn="l">
              <a:spcAft>
                <a:spcPts val="500"/>
              </a:spcAft>
            </a:pPr>
            <a:r>
              <a:rPr sz="1500" b="0" i="0">
                <a:solidFill>
                  <a:srgbClr val="000000"/>
                </a:solidFill>
                <a:latin typeface="Arial"/>
              </a:rPr>
              <a:t>Brand Memory: one JSON profile per brand, edited by the owner and read on every run</a:t>
            </a:r>
          </a:p>
          <a:p>
            <a:pPr algn="l">
              <a:spcAft>
                <a:spcPts val="500"/>
              </a:spcAft>
            </a:pPr>
            <a:r>
              <a:rPr sz="1500" b="0" i="0">
                <a:solidFill>
                  <a:srgbClr val="000000"/>
                </a:solidFill>
                <a:latin typeface="Arial"/>
              </a:rPr>
              <a:t>Image AI draws only backgrounds. Text and logo are rendered by templates, so spelling stays correct</a:t>
            </a:r>
          </a:p>
          <a:p>
            <a:pPr algn="l">
              <a:spcAft>
                <a:spcPts val="500"/>
              </a:spcAft>
            </a:pPr>
            <a:r>
              <a:rPr sz="1500" b="0" i="0">
                <a:solidFill>
                  <a:srgbClr val="000000"/>
                </a:solidFill>
                <a:latin typeface="Arial"/>
              </a:rPr>
              <a:t>Built on React, FastAPI, Postgres and Docker</a:t>
            </a:r>
          </a:p>
        </p:txBody>
      </p:sp>
      <p:sp>
        <p:nvSpPr>
          <p:cNvPr id="42" name="Rounded Rectangle 41"/>
          <p:cNvSpPr/>
          <p:nvPr/>
        </p:nvSpPr>
        <p:spPr>
          <a:xfrm>
            <a:off x="9281160" y="6446520"/>
            <a:ext cx="8138160" cy="2514600"/>
          </a:xfrm>
          <a:prstGeom prst="roundRect">
            <a:avLst>
              <a:gd name="adj" fmla="val 6000"/>
            </a:avLst>
          </a:prstGeom>
          <a:solidFill>
            <a:srgbClr val="105652"/>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601200" y="6629400"/>
            <a:ext cx="7498079" cy="548640"/>
          </a:xfrm>
          <a:prstGeom prst="rect">
            <a:avLst/>
          </a:prstGeom>
          <a:noFill/>
        </p:spPr>
        <p:txBody>
          <a:bodyPr wrap="square" lIns="0" rIns="0" tIns="0" bIns="0" anchor="t">
            <a:spAutoFit/>
          </a:bodyPr>
          <a:lstStyle/>
          <a:p>
            <a:pPr algn="l"/>
            <a:r>
              <a:rPr sz="2600" b="1" i="0">
                <a:solidFill>
                  <a:srgbClr val="F9C041"/>
                </a:solidFill>
                <a:latin typeface="Arial"/>
              </a:rPr>
              <a:t>RESPONSIBLE BY DESIGN</a:t>
            </a:r>
          </a:p>
        </p:txBody>
      </p:sp>
      <p:sp>
        <p:nvSpPr>
          <p:cNvPr id="44" name="TextBox 43"/>
          <p:cNvSpPr txBox="1"/>
          <p:nvPr/>
        </p:nvSpPr>
        <p:spPr>
          <a:xfrm>
            <a:off x="9601200" y="7269480"/>
            <a:ext cx="7589520" cy="1645920"/>
          </a:xfrm>
          <a:prstGeom prst="rect">
            <a:avLst/>
          </a:prstGeom>
          <a:noFill/>
        </p:spPr>
        <p:txBody>
          <a:bodyPr wrap="square" lIns="0" rIns="0" tIns="0" bIns="0" anchor="t">
            <a:spAutoFit/>
          </a:bodyPr>
          <a:lstStyle/>
          <a:p>
            <a:pPr algn="l">
              <a:spcAft>
                <a:spcPts val="500"/>
              </a:spcAft>
            </a:pPr>
            <a:r>
              <a:rPr sz="1500" b="0" i="0">
                <a:solidFill>
                  <a:srgbClr val="FFFFFF"/>
                </a:solidFill>
                <a:latin typeface="Arial"/>
              </a:rPr>
              <a:t>Drafts only. Nothing is published without the owner</a:t>
            </a:r>
          </a:p>
          <a:p>
            <a:pPr algn="l">
              <a:spcAft>
                <a:spcPts val="500"/>
              </a:spcAft>
            </a:pPr>
            <a:r>
              <a:rPr sz="1500" b="0" i="0">
                <a:solidFill>
                  <a:srgbClr val="FFFFFF"/>
                </a:solidFill>
                <a:latin typeface="Arial"/>
              </a:rPr>
              <a:t>Prices and dates come only from the owner. Missing info becomes a question</a:t>
            </a:r>
          </a:p>
          <a:p>
            <a:pPr algn="l">
              <a:spcAft>
                <a:spcPts val="500"/>
              </a:spcAft>
            </a:pPr>
            <a:r>
              <a:rPr sz="1500" b="0" i="0">
                <a:solidFill>
                  <a:srgbClr val="FFFFFF"/>
                </a:solidFill>
                <a:latin typeface="Arial"/>
              </a:rPr>
              <a:t>Uploaded files and sites are treated as data, not instructions</a:t>
            </a:r>
          </a:p>
          <a:p>
            <a:pPr algn="l">
              <a:spcAft>
                <a:spcPts val="500"/>
              </a:spcAft>
            </a:pPr>
            <a:r>
              <a:rPr sz="1500" b="0" i="0">
                <a:solidFill>
                  <a:srgbClr val="FFFFFF"/>
                </a:solidFill>
                <a:latin typeface="Arial"/>
              </a:rPr>
              <a:t>Contrast check on every text layer, and assets labelled AI-assisted</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BF3E4"/>
        </a:solidFill>
      </p:bgPr>
    </p:bg>
    <p:spTree>
      <p:nvGrpSpPr>
        <p:cNvPr id="1" name=""/>
        <p:cNvGrpSpPr/>
        <p:nvPr/>
      </p:nvGrpSpPr>
      <p:grpSpPr>
        <a:xfrm>
          <a:off x="0" y="0"/>
          <a:ext cx="0" cy="0"/>
          <a:chOff x="0" y="0"/>
          <a:chExt cx="0" cy="0"/>
        </a:xfrm>
      </p:grpSpPr>
      <p:sp>
        <p:nvSpPr>
          <p:cNvPr id="2" name="TextBox 1"/>
          <p:cNvSpPr txBox="1"/>
          <p:nvPr/>
        </p:nvSpPr>
        <p:spPr>
          <a:xfrm>
            <a:off x="868680" y="868680"/>
            <a:ext cx="7315200" cy="365760"/>
          </a:xfrm>
          <a:prstGeom prst="rect">
            <a:avLst/>
          </a:prstGeom>
          <a:noFill/>
        </p:spPr>
        <p:txBody>
          <a:bodyPr wrap="square" lIns="0" rIns="0" tIns="0" bIns="0" anchor="t">
            <a:spAutoFit/>
          </a:bodyPr>
          <a:lstStyle/>
          <a:p>
            <a:pPr algn="l"/>
            <a:r>
              <a:rPr sz="2000" b="1" i="0">
                <a:solidFill>
                  <a:srgbClr val="000000"/>
                </a:solidFill>
                <a:latin typeface="Arial"/>
              </a:rPr>
              <a:t>marque.ai</a:t>
            </a:r>
          </a:p>
        </p:txBody>
      </p:sp>
      <p:sp>
        <p:nvSpPr>
          <p:cNvPr id="3" name="TextBox 2"/>
          <p:cNvSpPr txBox="1"/>
          <p:nvPr/>
        </p:nvSpPr>
        <p:spPr>
          <a:xfrm>
            <a:off x="13898880" y="868680"/>
            <a:ext cx="3520440" cy="365760"/>
          </a:xfrm>
          <a:prstGeom prst="rect">
            <a:avLst/>
          </a:prstGeom>
          <a:noFill/>
        </p:spPr>
        <p:txBody>
          <a:bodyPr wrap="square" lIns="0" rIns="0" tIns="0" bIns="0" anchor="t">
            <a:spAutoFit/>
          </a:bodyPr>
          <a:lstStyle/>
          <a:p>
            <a:pPr algn="r"/>
            <a:r>
              <a:rPr sz="1600" b="0" i="0">
                <a:solidFill>
                  <a:srgbClr val="000000"/>
                </a:solidFill>
                <a:latin typeface="Arial"/>
              </a:rPr>
              <a:t>Page 04 of 05</a:t>
            </a:r>
          </a:p>
        </p:txBody>
      </p:sp>
      <p:sp>
        <p:nvSpPr>
          <p:cNvPr id="4" name="TextBox 3"/>
          <p:cNvSpPr txBox="1"/>
          <p:nvPr/>
        </p:nvSpPr>
        <p:spPr>
          <a:xfrm>
            <a:off x="868680" y="9235440"/>
            <a:ext cx="8229600" cy="320040"/>
          </a:xfrm>
          <a:prstGeom prst="rect">
            <a:avLst/>
          </a:prstGeom>
          <a:noFill/>
        </p:spPr>
        <p:txBody>
          <a:bodyPr wrap="square" lIns="0" rIns="0" tIns="0" bIns="0" anchor="t">
            <a:spAutoFit/>
          </a:bodyPr>
          <a:lstStyle/>
          <a:p>
            <a:pPr algn="l"/>
            <a:r>
              <a:rPr sz="1600" b="0" i="0">
                <a:solidFill>
                  <a:srgbClr val="000000"/>
                </a:solidFill>
                <a:latin typeface="Arial"/>
              </a:rPr>
              <a:t>marque.skunkworkslab.online</a:t>
            </a:r>
          </a:p>
        </p:txBody>
      </p:sp>
      <p:cxnSp>
        <p:nvCxnSpPr>
          <p:cNvPr id="5" name="Connector 4"/>
          <p:cNvCxnSpPr/>
          <p:nvPr/>
        </p:nvCxnSpPr>
        <p:spPr>
          <a:xfrm>
            <a:off x="15544800" y="9400032"/>
            <a:ext cx="187452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Isosceles Triangle 5"/>
          <p:cNvSpPr/>
          <p:nvPr/>
        </p:nvSpPr>
        <p:spPr>
          <a:xfrm rot="5400000">
            <a:off x="17263872" y="9326880"/>
            <a:ext cx="155448" cy="155448"/>
          </a:xfrm>
          <a:prstGeom prst="triangl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554480"/>
            <a:ext cx="16002000" cy="1097280"/>
          </a:xfrm>
          <a:prstGeom prst="rect">
            <a:avLst/>
          </a:prstGeom>
          <a:noFill/>
        </p:spPr>
        <p:txBody>
          <a:bodyPr wrap="square" lIns="0" rIns="0" tIns="0" bIns="0" anchor="t">
            <a:spAutoFit/>
          </a:bodyPr>
          <a:lstStyle/>
          <a:p>
            <a:pPr algn="l"/>
            <a:r>
              <a:rPr sz="5600" b="1" i="0">
                <a:solidFill>
                  <a:srgbClr val="000000"/>
                </a:solidFill>
                <a:latin typeface="Arial"/>
              </a:rPr>
              <a:t>The prototype, live</a:t>
            </a:r>
          </a:p>
        </p:txBody>
      </p:sp>
      <p:sp>
        <p:nvSpPr>
          <p:cNvPr id="8" name="Rounded Rectangle 7"/>
          <p:cNvSpPr/>
          <p:nvPr/>
        </p:nvSpPr>
        <p:spPr>
          <a:xfrm>
            <a:off x="868680" y="3154680"/>
            <a:ext cx="8869680" cy="5760720"/>
          </a:xfrm>
          <a:prstGeom prst="roundRect">
            <a:avLst>
              <a:gd name="adj" fmla="val 3000"/>
            </a:avLst>
          </a:prstGeom>
          <a:solidFill>
            <a:srgbClr val="FFFFFF"/>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3383280"/>
            <a:ext cx="5486400" cy="457200"/>
          </a:xfrm>
          <a:prstGeom prst="rect">
            <a:avLst/>
          </a:prstGeom>
          <a:noFill/>
        </p:spPr>
        <p:txBody>
          <a:bodyPr wrap="square" lIns="0" rIns="0" tIns="0" bIns="0" anchor="t">
            <a:spAutoFit/>
          </a:bodyPr>
          <a:lstStyle/>
          <a:p>
            <a:pPr algn="l"/>
            <a:r>
              <a:rPr sz="2400" b="1" i="0">
                <a:solidFill>
                  <a:srgbClr val="000000"/>
                </a:solidFill>
                <a:latin typeface="Arial"/>
              </a:rPr>
              <a:t>BRAND SIGNAL</a:t>
            </a:r>
          </a:p>
        </p:txBody>
      </p:sp>
      <p:sp>
        <p:nvSpPr>
          <p:cNvPr id="10" name="Rounded Rectangle 9"/>
          <p:cNvSpPr/>
          <p:nvPr/>
        </p:nvSpPr>
        <p:spPr>
          <a:xfrm>
            <a:off x="6675120" y="3401568"/>
            <a:ext cx="1463040" cy="420624"/>
          </a:xfrm>
          <a:prstGeom prst="roundRect">
            <a:avLst>
              <a:gd name="adj" fmla="val 20000"/>
            </a:avLst>
          </a:prstGeom>
          <a:solidFill>
            <a:srgbClr val="B9164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675120" y="3401568"/>
            <a:ext cx="1463040" cy="420624"/>
          </a:xfrm>
          <a:prstGeom prst="rect">
            <a:avLst/>
          </a:prstGeom>
          <a:noFill/>
        </p:spPr>
        <p:txBody>
          <a:bodyPr wrap="square" lIns="0" rIns="0" tIns="0" bIns="0" anchor="ctr">
            <a:spAutoFit/>
          </a:bodyPr>
          <a:lstStyle/>
          <a:p>
            <a:pPr algn="ctr"/>
            <a:r>
              <a:rPr sz="1200" b="1" i="0">
                <a:solidFill>
                  <a:srgbClr val="FFFFFF"/>
                </a:solidFill>
                <a:latin typeface="Arial"/>
              </a:rPr>
              <a:t>NEEDS FIX</a:t>
            </a:r>
          </a:p>
        </p:txBody>
      </p:sp>
      <p:sp>
        <p:nvSpPr>
          <p:cNvPr id="12" name="TextBox 11"/>
          <p:cNvSpPr txBox="1"/>
          <p:nvPr/>
        </p:nvSpPr>
        <p:spPr>
          <a:xfrm>
            <a:off x="8229600" y="3401568"/>
            <a:ext cx="1280160" cy="420624"/>
          </a:xfrm>
          <a:prstGeom prst="rect">
            <a:avLst/>
          </a:prstGeom>
          <a:noFill/>
        </p:spPr>
        <p:txBody>
          <a:bodyPr wrap="square" lIns="0" rIns="0" tIns="0" bIns="0" anchor="ctr">
            <a:spAutoFit/>
          </a:bodyPr>
          <a:lstStyle/>
          <a:p>
            <a:pPr algn="r"/>
            <a:r>
              <a:rPr sz="2000" b="1" i="0">
                <a:solidFill>
                  <a:srgbClr val="000000"/>
                </a:solidFill>
                <a:latin typeface="Arial"/>
              </a:rPr>
              <a:t>74/100</a:t>
            </a:r>
          </a:p>
        </p:txBody>
      </p:sp>
      <p:sp>
        <p:nvSpPr>
          <p:cNvPr id="13" name="TextBox 12"/>
          <p:cNvSpPr txBox="1"/>
          <p:nvPr/>
        </p:nvSpPr>
        <p:spPr>
          <a:xfrm>
            <a:off x="1234440" y="3977639"/>
            <a:ext cx="6400800" cy="274320"/>
          </a:xfrm>
          <a:prstGeom prst="rect">
            <a:avLst/>
          </a:prstGeom>
          <a:noFill/>
        </p:spPr>
        <p:txBody>
          <a:bodyPr wrap="square" lIns="0" rIns="0" tIns="0" bIns="0" anchor="t">
            <a:spAutoFit/>
          </a:bodyPr>
          <a:lstStyle/>
          <a:p>
            <a:pPr algn="l"/>
            <a:r>
              <a:rPr sz="1100" b="0" i="0">
                <a:solidFill>
                  <a:srgbClr val="5A5245"/>
                </a:solidFill>
                <a:latin typeface="Arial"/>
              </a:rPr>
              <a:t>target vs detected, sample run (Burger Lab)</a:t>
            </a:r>
          </a:p>
        </p:txBody>
      </p:sp>
      <p:sp>
        <p:nvSpPr>
          <p:cNvPr id="14" name="TextBox 13"/>
          <p:cNvSpPr txBox="1"/>
          <p:nvPr/>
        </p:nvSpPr>
        <p:spPr>
          <a:xfrm>
            <a:off x="1234440" y="4434840"/>
            <a:ext cx="1737360" cy="411480"/>
          </a:xfrm>
          <a:prstGeom prst="rect">
            <a:avLst/>
          </a:prstGeom>
          <a:noFill/>
        </p:spPr>
        <p:txBody>
          <a:bodyPr wrap="square" lIns="0" rIns="0" tIns="0" bIns="0" anchor="ctr">
            <a:spAutoFit/>
          </a:bodyPr>
          <a:lstStyle/>
          <a:p>
            <a:pPr algn="l"/>
            <a:r>
              <a:rPr sz="1500" b="1" i="0">
                <a:solidFill>
                  <a:srgbClr val="000000"/>
                </a:solidFill>
                <a:latin typeface="Arial"/>
              </a:rPr>
              <a:t>Premium</a:t>
            </a:r>
          </a:p>
        </p:txBody>
      </p:sp>
      <p:sp>
        <p:nvSpPr>
          <p:cNvPr id="15" name="Rounded Rectangle 14"/>
          <p:cNvSpPr/>
          <p:nvPr/>
        </p:nvSpPr>
        <p:spPr>
          <a:xfrm>
            <a:off x="3017520" y="4544568"/>
            <a:ext cx="5120640" cy="201168"/>
          </a:xfrm>
          <a:prstGeom prst="roundRect">
            <a:avLst>
              <a:gd name="adj" fmla="val 50000"/>
            </a:avLst>
          </a:prstGeom>
          <a:solidFill>
            <a:srgbClr val="DFD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3017520" y="4544568"/>
            <a:ext cx="4506163" cy="201168"/>
          </a:xfrm>
          <a:prstGeom prst="roundRect">
            <a:avLst>
              <a:gd name="adj" fmla="val 50000"/>
            </a:avLst>
          </a:prstGeom>
          <a:solidFill>
            <a:srgbClr val="105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7" name="Connector 16"/>
          <p:cNvCxnSpPr/>
          <p:nvPr/>
        </p:nvCxnSpPr>
        <p:spPr>
          <a:xfrm>
            <a:off x="6601968" y="4453127"/>
            <a:ext cx="0" cy="384049"/>
          </a:xfrm>
          <a:prstGeom prst="line">
            <a:avLst/>
          </a:prstGeom>
          <a:ln w="31750">
            <a:solidFill>
              <a:srgbClr val="00000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321040" y="4434840"/>
            <a:ext cx="1188720" cy="411480"/>
          </a:xfrm>
          <a:prstGeom prst="rect">
            <a:avLst/>
          </a:prstGeom>
          <a:noFill/>
        </p:spPr>
        <p:txBody>
          <a:bodyPr wrap="square" lIns="0" rIns="0" tIns="0" bIns="0" anchor="ctr">
            <a:spAutoFit/>
          </a:bodyPr>
          <a:lstStyle/>
          <a:p>
            <a:pPr algn="r"/>
            <a:r>
              <a:rPr sz="1300" b="0" i="0">
                <a:solidFill>
                  <a:srgbClr val="000000"/>
                </a:solidFill>
                <a:latin typeface="Arial"/>
              </a:rPr>
              <a:t>88  (+18)</a:t>
            </a:r>
          </a:p>
        </p:txBody>
      </p:sp>
      <p:sp>
        <p:nvSpPr>
          <p:cNvPr id="19" name="TextBox 18"/>
          <p:cNvSpPr txBox="1"/>
          <p:nvPr/>
        </p:nvSpPr>
        <p:spPr>
          <a:xfrm>
            <a:off x="1234440" y="5056631"/>
            <a:ext cx="1737360" cy="411480"/>
          </a:xfrm>
          <a:prstGeom prst="rect">
            <a:avLst/>
          </a:prstGeom>
          <a:noFill/>
        </p:spPr>
        <p:txBody>
          <a:bodyPr wrap="square" lIns="0" rIns="0" tIns="0" bIns="0" anchor="ctr">
            <a:spAutoFit/>
          </a:bodyPr>
          <a:lstStyle/>
          <a:p>
            <a:pPr algn="l"/>
            <a:r>
              <a:rPr sz="1500" b="1" i="0">
                <a:solidFill>
                  <a:srgbClr val="000000"/>
                </a:solidFill>
                <a:latin typeface="Arial"/>
              </a:rPr>
              <a:t>Modern</a:t>
            </a:r>
          </a:p>
        </p:txBody>
      </p:sp>
      <p:sp>
        <p:nvSpPr>
          <p:cNvPr id="20" name="Rounded Rectangle 19"/>
          <p:cNvSpPr/>
          <p:nvPr/>
        </p:nvSpPr>
        <p:spPr>
          <a:xfrm>
            <a:off x="3017520" y="5166359"/>
            <a:ext cx="5120640" cy="201168"/>
          </a:xfrm>
          <a:prstGeom prst="roundRect">
            <a:avLst>
              <a:gd name="adj" fmla="val 50000"/>
            </a:avLst>
          </a:prstGeom>
          <a:solidFill>
            <a:srgbClr val="DFD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3017520" y="5166359"/>
            <a:ext cx="4198924" cy="201168"/>
          </a:xfrm>
          <a:prstGeom prst="roundRect">
            <a:avLst>
              <a:gd name="adj" fmla="val 50000"/>
            </a:avLst>
          </a:prstGeom>
          <a:solidFill>
            <a:srgbClr val="105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2" name="Connector 21"/>
          <p:cNvCxnSpPr/>
          <p:nvPr/>
        </p:nvCxnSpPr>
        <p:spPr>
          <a:xfrm>
            <a:off x="7114032" y="5074919"/>
            <a:ext cx="0" cy="384049"/>
          </a:xfrm>
          <a:prstGeom prst="line">
            <a:avLst/>
          </a:prstGeom>
          <a:ln w="31750">
            <a:solidFill>
              <a:srgbClr val="00000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321040" y="5056631"/>
            <a:ext cx="1188720" cy="411480"/>
          </a:xfrm>
          <a:prstGeom prst="rect">
            <a:avLst/>
          </a:prstGeom>
          <a:noFill/>
        </p:spPr>
        <p:txBody>
          <a:bodyPr wrap="square" lIns="0" rIns="0" tIns="0" bIns="0" anchor="ctr">
            <a:spAutoFit/>
          </a:bodyPr>
          <a:lstStyle/>
          <a:p>
            <a:pPr algn="r"/>
            <a:r>
              <a:rPr sz="1300" b="0" i="0">
                <a:solidFill>
                  <a:srgbClr val="000000"/>
                </a:solidFill>
                <a:latin typeface="Arial"/>
              </a:rPr>
              <a:t>82  (+2)</a:t>
            </a:r>
          </a:p>
        </p:txBody>
      </p:sp>
      <p:sp>
        <p:nvSpPr>
          <p:cNvPr id="24" name="TextBox 23"/>
          <p:cNvSpPr txBox="1"/>
          <p:nvPr/>
        </p:nvSpPr>
        <p:spPr>
          <a:xfrm>
            <a:off x="1234440" y="5678423"/>
            <a:ext cx="1737360" cy="411480"/>
          </a:xfrm>
          <a:prstGeom prst="rect">
            <a:avLst/>
          </a:prstGeom>
          <a:noFill/>
        </p:spPr>
        <p:txBody>
          <a:bodyPr wrap="square" lIns="0" rIns="0" tIns="0" bIns="0" anchor="ctr">
            <a:spAutoFit/>
          </a:bodyPr>
          <a:lstStyle/>
          <a:p>
            <a:pPr algn="l"/>
            <a:r>
              <a:rPr sz="1500" b="1" i="0">
                <a:solidFill>
                  <a:srgbClr val="000000"/>
                </a:solidFill>
                <a:latin typeface="Arial"/>
              </a:rPr>
              <a:t>Playful</a:t>
            </a:r>
          </a:p>
        </p:txBody>
      </p:sp>
      <p:sp>
        <p:nvSpPr>
          <p:cNvPr id="25" name="Rounded Rectangle 24"/>
          <p:cNvSpPr/>
          <p:nvPr/>
        </p:nvSpPr>
        <p:spPr>
          <a:xfrm>
            <a:off x="3017520" y="5788151"/>
            <a:ext cx="5120640" cy="201168"/>
          </a:xfrm>
          <a:prstGeom prst="roundRect">
            <a:avLst>
              <a:gd name="adj" fmla="val 50000"/>
            </a:avLst>
          </a:prstGeom>
          <a:solidFill>
            <a:srgbClr val="DFD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3017520" y="5788151"/>
            <a:ext cx="2048256" cy="201168"/>
          </a:xfrm>
          <a:prstGeom prst="roundRect">
            <a:avLst>
              <a:gd name="adj" fmla="val 50000"/>
            </a:avLst>
          </a:prstGeom>
          <a:solidFill>
            <a:srgbClr val="B91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7" name="Connector 26"/>
          <p:cNvCxnSpPr/>
          <p:nvPr/>
        </p:nvCxnSpPr>
        <p:spPr>
          <a:xfrm>
            <a:off x="6858000" y="5696711"/>
            <a:ext cx="0" cy="384048"/>
          </a:xfrm>
          <a:prstGeom prst="line">
            <a:avLst/>
          </a:prstGeom>
          <a:ln w="31750">
            <a:solidFill>
              <a:srgbClr val="00000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321040" y="5678423"/>
            <a:ext cx="1188720" cy="411480"/>
          </a:xfrm>
          <a:prstGeom prst="rect">
            <a:avLst/>
          </a:prstGeom>
          <a:noFill/>
        </p:spPr>
        <p:txBody>
          <a:bodyPr wrap="square" lIns="0" rIns="0" tIns="0" bIns="0" anchor="ctr">
            <a:spAutoFit/>
          </a:bodyPr>
          <a:lstStyle/>
          <a:p>
            <a:pPr algn="r"/>
            <a:r>
              <a:rPr sz="1300" b="1" i="0">
                <a:solidFill>
                  <a:srgbClr val="B91646"/>
                </a:solidFill>
                <a:latin typeface="Arial"/>
              </a:rPr>
              <a:t>40  (-35)</a:t>
            </a:r>
          </a:p>
        </p:txBody>
      </p:sp>
      <p:sp>
        <p:nvSpPr>
          <p:cNvPr id="29" name="TextBox 28"/>
          <p:cNvSpPr txBox="1"/>
          <p:nvPr/>
        </p:nvSpPr>
        <p:spPr>
          <a:xfrm>
            <a:off x="1234440" y="6300215"/>
            <a:ext cx="1737360" cy="411480"/>
          </a:xfrm>
          <a:prstGeom prst="rect">
            <a:avLst/>
          </a:prstGeom>
          <a:noFill/>
        </p:spPr>
        <p:txBody>
          <a:bodyPr wrap="square" lIns="0" rIns="0" tIns="0" bIns="0" anchor="ctr">
            <a:spAutoFit/>
          </a:bodyPr>
          <a:lstStyle/>
          <a:p>
            <a:pPr algn="l"/>
            <a:r>
              <a:rPr sz="1500" b="1" i="0">
                <a:solidFill>
                  <a:srgbClr val="000000"/>
                </a:solidFill>
                <a:latin typeface="Arial"/>
              </a:rPr>
              <a:t>Niche</a:t>
            </a:r>
          </a:p>
        </p:txBody>
      </p:sp>
      <p:sp>
        <p:nvSpPr>
          <p:cNvPr id="30" name="Rounded Rectangle 29"/>
          <p:cNvSpPr/>
          <p:nvPr/>
        </p:nvSpPr>
        <p:spPr>
          <a:xfrm>
            <a:off x="3017520" y="6409943"/>
            <a:ext cx="5120640" cy="201168"/>
          </a:xfrm>
          <a:prstGeom prst="roundRect">
            <a:avLst>
              <a:gd name="adj" fmla="val 50000"/>
            </a:avLst>
          </a:prstGeom>
          <a:solidFill>
            <a:srgbClr val="DFD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3017520" y="6409943"/>
            <a:ext cx="3072384" cy="201168"/>
          </a:xfrm>
          <a:prstGeom prst="roundRect">
            <a:avLst>
              <a:gd name="adj" fmla="val 50000"/>
            </a:avLst>
          </a:prstGeom>
          <a:solidFill>
            <a:srgbClr val="105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2" name="Connector 31"/>
          <p:cNvCxnSpPr/>
          <p:nvPr/>
        </p:nvCxnSpPr>
        <p:spPr>
          <a:xfrm>
            <a:off x="5833872" y="6318503"/>
            <a:ext cx="0" cy="384048"/>
          </a:xfrm>
          <a:prstGeom prst="line">
            <a:avLst/>
          </a:prstGeom>
          <a:ln w="31750">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321040" y="6300215"/>
            <a:ext cx="1188720" cy="411480"/>
          </a:xfrm>
          <a:prstGeom prst="rect">
            <a:avLst/>
          </a:prstGeom>
          <a:noFill/>
        </p:spPr>
        <p:txBody>
          <a:bodyPr wrap="square" lIns="0" rIns="0" tIns="0" bIns="0" anchor="ctr">
            <a:spAutoFit/>
          </a:bodyPr>
          <a:lstStyle/>
          <a:p>
            <a:pPr algn="r"/>
            <a:r>
              <a:rPr sz="1300" b="0" i="0">
                <a:solidFill>
                  <a:srgbClr val="000000"/>
                </a:solidFill>
                <a:latin typeface="Arial"/>
              </a:rPr>
              <a:t>60  (+5)</a:t>
            </a:r>
          </a:p>
        </p:txBody>
      </p:sp>
      <p:sp>
        <p:nvSpPr>
          <p:cNvPr id="34" name="TextBox 33"/>
          <p:cNvSpPr txBox="1"/>
          <p:nvPr/>
        </p:nvSpPr>
        <p:spPr>
          <a:xfrm>
            <a:off x="1234440" y="7040880"/>
            <a:ext cx="8138160" cy="822960"/>
          </a:xfrm>
          <a:prstGeom prst="rect">
            <a:avLst/>
          </a:prstGeom>
          <a:noFill/>
        </p:spPr>
        <p:txBody>
          <a:bodyPr wrap="square" lIns="0" rIns="0" tIns="0" bIns="0" anchor="t">
            <a:spAutoFit/>
          </a:bodyPr>
          <a:lstStyle/>
          <a:p>
            <a:pPr algn="l"/>
            <a:r>
              <a:rPr sz="1300" b="1" i="0">
                <a:solidFill>
                  <a:srgbClr val="000000"/>
                </a:solidFill>
                <a:latin typeface="Arial"/>
              </a:rPr>
              <a:t>Why: </a:t>
            </a:r>
            <a:r>
              <a:rPr sz="1300" b="0" i="0">
                <a:solidFill>
                  <a:srgbClr val="000000"/>
                </a:solidFill>
                <a:latin typeface="Arial"/>
              </a:rPr>
              <a:t>a thin gold serif headline and empty dark space read luxury and serious. The brand target is playful.</a:t>
            </a:r>
          </a:p>
        </p:txBody>
      </p:sp>
      <p:sp>
        <p:nvSpPr>
          <p:cNvPr id="35" name="Rounded Rectangle 34"/>
          <p:cNvSpPr/>
          <p:nvPr/>
        </p:nvSpPr>
        <p:spPr>
          <a:xfrm>
            <a:off x="1234440" y="7909560"/>
            <a:ext cx="8138160" cy="731520"/>
          </a:xfrm>
          <a:prstGeom prst="roundRect">
            <a:avLst>
              <a:gd name="adj" fmla="val 15000"/>
            </a:avLst>
          </a:prstGeom>
          <a:solidFill>
            <a:srgbClr val="105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463040" y="7909560"/>
            <a:ext cx="7772400" cy="731520"/>
          </a:xfrm>
          <a:prstGeom prst="rect">
            <a:avLst/>
          </a:prstGeom>
          <a:noFill/>
        </p:spPr>
        <p:txBody>
          <a:bodyPr wrap="square" lIns="0" rIns="0" tIns="0" bIns="0" anchor="ctr">
            <a:spAutoFit/>
          </a:bodyPr>
          <a:lstStyle/>
          <a:p>
            <a:pPr algn="l"/>
            <a:r>
              <a:rPr sz="1300" b="1" i="0">
                <a:solidFill>
                  <a:srgbClr val="F9C041"/>
                </a:solidFill>
                <a:latin typeface="Arial"/>
              </a:rPr>
              <a:t>Agent fixes: </a:t>
            </a:r>
            <a:r>
              <a:rPr sz="1300" b="0" i="0">
                <a:solidFill>
                  <a:srgbClr val="FFFFFF"/>
                </a:solidFill>
                <a:latin typeface="Arial"/>
              </a:rPr>
              <a:t>bolder headline, warmer photo, more accent.   </a:t>
            </a:r>
            <a:r>
              <a:rPr sz="1300" b="1" i="0">
                <a:solidFill>
                  <a:srgbClr val="FFFFFF"/>
                </a:solidFill>
                <a:latin typeface="Arial"/>
              </a:rPr>
              <a:t>Round 2: 91/100  PASS</a:t>
            </a:r>
          </a:p>
        </p:txBody>
      </p:sp>
      <p:sp>
        <p:nvSpPr>
          <p:cNvPr id="37" name="TextBox 36"/>
          <p:cNvSpPr txBox="1"/>
          <p:nvPr/>
        </p:nvSpPr>
        <p:spPr>
          <a:xfrm>
            <a:off x="10241280" y="3108960"/>
            <a:ext cx="7132320" cy="731520"/>
          </a:xfrm>
          <a:prstGeom prst="rect">
            <a:avLst/>
          </a:prstGeom>
          <a:noFill/>
        </p:spPr>
        <p:txBody>
          <a:bodyPr wrap="square" lIns="0" rIns="0" tIns="0" bIns="0" anchor="t">
            <a:spAutoFit/>
          </a:bodyPr>
          <a:lstStyle/>
          <a:p>
            <a:pPr algn="l"/>
            <a:r>
              <a:rPr sz="3400" b="1" i="0">
                <a:solidFill>
                  <a:srgbClr val="105652"/>
                </a:solidFill>
                <a:latin typeface="Arial"/>
              </a:rPr>
              <a:t>Live today</a:t>
            </a:r>
          </a:p>
        </p:txBody>
      </p:sp>
      <p:sp>
        <p:nvSpPr>
          <p:cNvPr id="38" name="Oval 37"/>
          <p:cNvSpPr/>
          <p:nvPr/>
        </p:nvSpPr>
        <p:spPr>
          <a:xfrm>
            <a:off x="10241280" y="4069079"/>
            <a:ext cx="182880" cy="182880"/>
          </a:xfrm>
          <a:prstGeom prst="ellipse">
            <a:avLst/>
          </a:prstGeom>
          <a:solidFill>
            <a:srgbClr val="105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652760" y="3977639"/>
            <a:ext cx="6766560" cy="502920"/>
          </a:xfrm>
          <a:prstGeom prst="rect">
            <a:avLst/>
          </a:prstGeom>
          <a:noFill/>
        </p:spPr>
        <p:txBody>
          <a:bodyPr wrap="square" lIns="0" rIns="0" tIns="0" bIns="0" anchor="t">
            <a:spAutoFit/>
          </a:bodyPr>
          <a:lstStyle/>
          <a:p>
            <a:pPr algn="l"/>
            <a:r>
              <a:rPr sz="1600" b="0" i="0">
                <a:solidFill>
                  <a:srgbClr val="000000"/>
                </a:solidFill>
                <a:latin typeface="Arial"/>
              </a:rPr>
              <a:t>Brand identity drafted from a few questions</a:t>
            </a:r>
          </a:p>
        </p:txBody>
      </p:sp>
      <p:sp>
        <p:nvSpPr>
          <p:cNvPr id="40" name="Oval 39"/>
          <p:cNvSpPr/>
          <p:nvPr/>
        </p:nvSpPr>
        <p:spPr>
          <a:xfrm>
            <a:off x="10241280" y="4599431"/>
            <a:ext cx="182880" cy="182880"/>
          </a:xfrm>
          <a:prstGeom prst="ellipse">
            <a:avLst/>
          </a:prstGeom>
          <a:solidFill>
            <a:srgbClr val="105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0652760" y="4507992"/>
            <a:ext cx="6766560" cy="502920"/>
          </a:xfrm>
          <a:prstGeom prst="rect">
            <a:avLst/>
          </a:prstGeom>
          <a:noFill/>
        </p:spPr>
        <p:txBody>
          <a:bodyPr wrap="square" lIns="0" rIns="0" tIns="0" bIns="0" anchor="t">
            <a:spAutoFit/>
          </a:bodyPr>
          <a:lstStyle/>
          <a:p>
            <a:pPr algn="l"/>
            <a:r>
              <a:rPr sz="1600" b="0" i="0">
                <a:solidFill>
                  <a:srgbClr val="000000"/>
                </a:solidFill>
                <a:latin typeface="Arial"/>
              </a:rPr>
              <a:t>Brand rules the app remembers</a:t>
            </a:r>
          </a:p>
        </p:txBody>
      </p:sp>
      <p:sp>
        <p:nvSpPr>
          <p:cNvPr id="42" name="Oval 41"/>
          <p:cNvSpPr/>
          <p:nvPr/>
        </p:nvSpPr>
        <p:spPr>
          <a:xfrm>
            <a:off x="10241280" y="5129783"/>
            <a:ext cx="182880" cy="182880"/>
          </a:xfrm>
          <a:prstGeom prst="ellipse">
            <a:avLst/>
          </a:prstGeom>
          <a:solidFill>
            <a:srgbClr val="105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0652760" y="5038344"/>
            <a:ext cx="6766560" cy="502920"/>
          </a:xfrm>
          <a:prstGeom prst="rect">
            <a:avLst/>
          </a:prstGeom>
          <a:noFill/>
        </p:spPr>
        <p:txBody>
          <a:bodyPr wrap="square" lIns="0" rIns="0" tIns="0" bIns="0" anchor="t">
            <a:spAutoFit/>
          </a:bodyPr>
          <a:lstStyle/>
          <a:p>
            <a:pPr algn="l"/>
            <a:r>
              <a:rPr sz="1600" b="0" i="0">
                <a:solidFill>
                  <a:srgbClr val="000000"/>
                </a:solidFill>
                <a:latin typeface="Arial"/>
              </a:rPr>
              <a:t>Signal Check on every uploaded asset</a:t>
            </a:r>
          </a:p>
        </p:txBody>
      </p:sp>
      <p:sp>
        <p:nvSpPr>
          <p:cNvPr id="44" name="Oval 43"/>
          <p:cNvSpPr/>
          <p:nvPr/>
        </p:nvSpPr>
        <p:spPr>
          <a:xfrm>
            <a:off x="10241280" y="5660136"/>
            <a:ext cx="182880" cy="182880"/>
          </a:xfrm>
          <a:prstGeom prst="ellipse">
            <a:avLst/>
          </a:prstGeom>
          <a:solidFill>
            <a:srgbClr val="105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0652760" y="5568696"/>
            <a:ext cx="6766560" cy="502920"/>
          </a:xfrm>
          <a:prstGeom prst="rect">
            <a:avLst/>
          </a:prstGeom>
          <a:noFill/>
        </p:spPr>
        <p:txBody>
          <a:bodyPr wrap="square" lIns="0" rIns="0" tIns="0" bIns="0" anchor="t">
            <a:spAutoFit/>
          </a:bodyPr>
          <a:lstStyle/>
          <a:p>
            <a:pPr algn="l"/>
            <a:r>
              <a:rPr sz="1600" b="0" i="0">
                <a:solidFill>
                  <a:srgbClr val="000000"/>
                </a:solidFill>
                <a:latin typeface="Arial"/>
              </a:rPr>
              <a:t>Brand Audit across 2 to 5 images, with history</a:t>
            </a:r>
          </a:p>
        </p:txBody>
      </p:sp>
      <p:sp>
        <p:nvSpPr>
          <p:cNvPr id="46" name="Oval 45"/>
          <p:cNvSpPr/>
          <p:nvPr/>
        </p:nvSpPr>
        <p:spPr>
          <a:xfrm>
            <a:off x="10241280" y="6190488"/>
            <a:ext cx="182880" cy="182880"/>
          </a:xfrm>
          <a:prstGeom prst="ellipse">
            <a:avLst/>
          </a:prstGeom>
          <a:solidFill>
            <a:srgbClr val="105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0652760" y="6099048"/>
            <a:ext cx="6766560" cy="502920"/>
          </a:xfrm>
          <a:prstGeom prst="rect">
            <a:avLst/>
          </a:prstGeom>
          <a:noFill/>
        </p:spPr>
        <p:txBody>
          <a:bodyPr wrap="square" lIns="0" rIns="0" tIns="0" bIns="0" anchor="t">
            <a:spAutoFit/>
          </a:bodyPr>
          <a:lstStyle/>
          <a:p>
            <a:pPr algn="l"/>
            <a:r>
              <a:rPr sz="1600" b="0" i="0">
                <a:solidFill>
                  <a:srgbClr val="000000"/>
                </a:solidFill>
                <a:latin typeface="Arial"/>
              </a:rPr>
              <a:t>Dockerized prod stack, live at marque.skunkworkslab.online</a:t>
            </a:r>
          </a:p>
        </p:txBody>
      </p:sp>
      <p:sp>
        <p:nvSpPr>
          <p:cNvPr id="48" name="TextBox 47"/>
          <p:cNvSpPr txBox="1"/>
          <p:nvPr/>
        </p:nvSpPr>
        <p:spPr>
          <a:xfrm>
            <a:off x="10241280" y="6629400"/>
            <a:ext cx="7132320" cy="731520"/>
          </a:xfrm>
          <a:prstGeom prst="rect">
            <a:avLst/>
          </a:prstGeom>
          <a:noFill/>
        </p:spPr>
        <p:txBody>
          <a:bodyPr wrap="square" lIns="0" rIns="0" tIns="0" bIns="0" anchor="t">
            <a:spAutoFit/>
          </a:bodyPr>
          <a:lstStyle/>
          <a:p>
            <a:pPr algn="l"/>
            <a:r>
              <a:rPr sz="3400" b="1" i="0">
                <a:solidFill>
                  <a:srgbClr val="B91646"/>
                </a:solidFill>
                <a:latin typeface="Arial"/>
              </a:rPr>
              <a:t>What we measure</a:t>
            </a:r>
          </a:p>
        </p:txBody>
      </p:sp>
      <p:sp>
        <p:nvSpPr>
          <p:cNvPr id="49" name="Rounded Rectangle 48"/>
          <p:cNvSpPr/>
          <p:nvPr/>
        </p:nvSpPr>
        <p:spPr>
          <a:xfrm>
            <a:off x="10241280" y="7452360"/>
            <a:ext cx="2286000" cy="1463040"/>
          </a:xfrm>
          <a:prstGeom prst="roundRect">
            <a:avLst>
              <a:gd name="adj" fmla="val 6000"/>
            </a:avLst>
          </a:prstGeom>
          <a:solidFill>
            <a:srgbClr val="FBF3E4"/>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0332719" y="7589520"/>
            <a:ext cx="2103120" cy="731520"/>
          </a:xfrm>
          <a:prstGeom prst="rect">
            <a:avLst/>
          </a:prstGeom>
          <a:noFill/>
        </p:spPr>
        <p:txBody>
          <a:bodyPr wrap="square" lIns="0" rIns="0" tIns="0" bIns="0" anchor="t">
            <a:spAutoFit/>
          </a:bodyPr>
          <a:lstStyle/>
          <a:p>
            <a:pPr algn="ctr"/>
            <a:r>
              <a:rPr sz="3000" b="1" i="0">
                <a:solidFill>
                  <a:srgbClr val="000000"/>
                </a:solidFill>
                <a:latin typeface="Arial"/>
              </a:rPr>
              <a:t>&lt;90 sec</a:t>
            </a:r>
          </a:p>
        </p:txBody>
      </p:sp>
      <p:sp>
        <p:nvSpPr>
          <p:cNvPr id="51" name="TextBox 50"/>
          <p:cNvSpPr txBox="1"/>
          <p:nvPr/>
        </p:nvSpPr>
        <p:spPr>
          <a:xfrm>
            <a:off x="10378440" y="8229600"/>
            <a:ext cx="2011680" cy="640080"/>
          </a:xfrm>
          <a:prstGeom prst="rect">
            <a:avLst/>
          </a:prstGeom>
          <a:noFill/>
        </p:spPr>
        <p:txBody>
          <a:bodyPr wrap="square" lIns="0" rIns="0" tIns="0" bIns="0" anchor="t">
            <a:spAutoFit/>
          </a:bodyPr>
          <a:lstStyle/>
          <a:p>
            <a:pPr algn="ctr"/>
            <a:r>
              <a:rPr sz="1200" b="0" i="0">
                <a:solidFill>
                  <a:srgbClr val="000000"/>
                </a:solidFill>
                <a:latin typeface="Arial"/>
              </a:rPr>
              <a:t>goal to 4 assets</a:t>
            </a:r>
          </a:p>
        </p:txBody>
      </p:sp>
      <p:sp>
        <p:nvSpPr>
          <p:cNvPr id="52" name="Rounded Rectangle 51"/>
          <p:cNvSpPr/>
          <p:nvPr/>
        </p:nvSpPr>
        <p:spPr>
          <a:xfrm>
            <a:off x="12664440" y="7452360"/>
            <a:ext cx="2286000" cy="1463040"/>
          </a:xfrm>
          <a:prstGeom prst="roundRect">
            <a:avLst>
              <a:gd name="adj" fmla="val 6000"/>
            </a:avLst>
          </a:prstGeom>
          <a:solidFill>
            <a:srgbClr val="F9C041"/>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12755880" y="7589520"/>
            <a:ext cx="2103120" cy="731520"/>
          </a:xfrm>
          <a:prstGeom prst="rect">
            <a:avLst/>
          </a:prstGeom>
          <a:noFill/>
        </p:spPr>
        <p:txBody>
          <a:bodyPr wrap="square" lIns="0" rIns="0" tIns="0" bIns="0" anchor="t">
            <a:spAutoFit/>
          </a:bodyPr>
          <a:lstStyle/>
          <a:p>
            <a:pPr algn="ctr"/>
            <a:r>
              <a:rPr sz="3000" b="1" i="0">
                <a:solidFill>
                  <a:srgbClr val="000000"/>
                </a:solidFill>
                <a:latin typeface="Arial"/>
              </a:rPr>
              <a:t>+10</a:t>
            </a:r>
          </a:p>
        </p:txBody>
      </p:sp>
      <p:sp>
        <p:nvSpPr>
          <p:cNvPr id="54" name="TextBox 53"/>
          <p:cNvSpPr txBox="1"/>
          <p:nvPr/>
        </p:nvSpPr>
        <p:spPr>
          <a:xfrm>
            <a:off x="12801600" y="8229600"/>
            <a:ext cx="2011680" cy="640080"/>
          </a:xfrm>
          <a:prstGeom prst="rect">
            <a:avLst/>
          </a:prstGeom>
          <a:noFill/>
        </p:spPr>
        <p:txBody>
          <a:bodyPr wrap="square" lIns="0" rIns="0" tIns="0" bIns="0" anchor="t">
            <a:spAutoFit/>
          </a:bodyPr>
          <a:lstStyle/>
          <a:p>
            <a:pPr algn="ctr"/>
            <a:r>
              <a:rPr sz="1200" b="0" i="0">
                <a:solidFill>
                  <a:srgbClr val="000000"/>
                </a:solidFill>
                <a:latin typeface="Arial"/>
              </a:rPr>
              <a:t>signal points after auto-fix</a:t>
            </a:r>
          </a:p>
        </p:txBody>
      </p:sp>
      <p:sp>
        <p:nvSpPr>
          <p:cNvPr id="55" name="Rounded Rectangle 54"/>
          <p:cNvSpPr/>
          <p:nvPr/>
        </p:nvSpPr>
        <p:spPr>
          <a:xfrm>
            <a:off x="15087600" y="7452360"/>
            <a:ext cx="2286000" cy="1463040"/>
          </a:xfrm>
          <a:prstGeom prst="roundRect">
            <a:avLst>
              <a:gd name="adj" fmla="val 6000"/>
            </a:avLst>
          </a:prstGeom>
          <a:solidFill>
            <a:srgbClr val="FBF3E4"/>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15179040" y="7589520"/>
            <a:ext cx="2103120" cy="731520"/>
          </a:xfrm>
          <a:prstGeom prst="rect">
            <a:avLst/>
          </a:prstGeom>
          <a:noFill/>
        </p:spPr>
        <p:txBody>
          <a:bodyPr wrap="square" lIns="0" rIns="0" tIns="0" bIns="0" anchor="t">
            <a:spAutoFit/>
          </a:bodyPr>
          <a:lstStyle/>
          <a:p>
            <a:pPr algn="ctr"/>
            <a:r>
              <a:rPr sz="3000" b="1" i="0">
                <a:solidFill>
                  <a:srgbClr val="000000"/>
                </a:solidFill>
                <a:latin typeface="Arial"/>
              </a:rPr>
              <a:t>85+</a:t>
            </a:r>
          </a:p>
        </p:txBody>
      </p:sp>
      <p:sp>
        <p:nvSpPr>
          <p:cNvPr id="57" name="TextBox 56"/>
          <p:cNvSpPr txBox="1"/>
          <p:nvPr/>
        </p:nvSpPr>
        <p:spPr>
          <a:xfrm>
            <a:off x="15224759" y="8229600"/>
            <a:ext cx="2011680" cy="640080"/>
          </a:xfrm>
          <a:prstGeom prst="rect">
            <a:avLst/>
          </a:prstGeom>
          <a:noFill/>
        </p:spPr>
        <p:txBody>
          <a:bodyPr wrap="square" lIns="0" rIns="0" tIns="0" bIns="0" anchor="t">
            <a:spAutoFit/>
          </a:bodyPr>
          <a:lstStyle/>
          <a:p>
            <a:pPr algn="ctr"/>
            <a:r>
              <a:rPr sz="1200" b="0" i="0">
                <a:solidFill>
                  <a:srgbClr val="000000"/>
                </a:solidFill>
                <a:latin typeface="Arial"/>
              </a:rPr>
              <a:t>consistency on new assets</a:t>
            </a:r>
          </a:p>
        </p:txBody>
      </p:sp>
      <p:sp>
        <p:nvSpPr>
          <p:cNvPr id="58" name="TextBox 57"/>
          <p:cNvSpPr txBox="1"/>
          <p:nvPr/>
        </p:nvSpPr>
        <p:spPr>
          <a:xfrm>
            <a:off x="10241280" y="8997696"/>
            <a:ext cx="7132320" cy="274320"/>
          </a:xfrm>
          <a:prstGeom prst="rect">
            <a:avLst/>
          </a:prstGeom>
          <a:noFill/>
        </p:spPr>
        <p:txBody>
          <a:bodyPr wrap="square" lIns="0" rIns="0" tIns="0" bIns="0" anchor="t">
            <a:spAutoFit/>
          </a:bodyPr>
          <a:lstStyle/>
          <a:p>
            <a:pPr algn="l"/>
            <a:r>
              <a:rPr sz="1100" b="0" i="0">
                <a:solidFill>
                  <a:srgbClr val="5A5245"/>
                </a:solidFill>
                <a:latin typeface="Arial"/>
              </a:rPr>
              <a:t>targets we log per run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BF3E4"/>
        </a:solidFill>
      </p:bgPr>
    </p:bg>
    <p:spTree>
      <p:nvGrpSpPr>
        <p:cNvPr id="1" name=""/>
        <p:cNvGrpSpPr/>
        <p:nvPr/>
      </p:nvGrpSpPr>
      <p:grpSpPr>
        <a:xfrm>
          <a:off x="0" y="0"/>
          <a:ext cx="0" cy="0"/>
          <a:chOff x="0" y="0"/>
          <a:chExt cx="0" cy="0"/>
        </a:xfrm>
      </p:grpSpPr>
      <p:sp>
        <p:nvSpPr>
          <p:cNvPr id="2" name="TextBox 1"/>
          <p:cNvSpPr txBox="1"/>
          <p:nvPr/>
        </p:nvSpPr>
        <p:spPr>
          <a:xfrm>
            <a:off x="868680" y="868680"/>
            <a:ext cx="7315200" cy="365760"/>
          </a:xfrm>
          <a:prstGeom prst="rect">
            <a:avLst/>
          </a:prstGeom>
          <a:noFill/>
        </p:spPr>
        <p:txBody>
          <a:bodyPr wrap="square" lIns="0" rIns="0" tIns="0" bIns="0" anchor="t">
            <a:spAutoFit/>
          </a:bodyPr>
          <a:lstStyle/>
          <a:p>
            <a:pPr algn="l"/>
            <a:r>
              <a:rPr sz="2000" b="1" i="0">
                <a:solidFill>
                  <a:srgbClr val="000000"/>
                </a:solidFill>
                <a:latin typeface="Arial"/>
              </a:rPr>
              <a:t>marque.ai</a:t>
            </a:r>
          </a:p>
        </p:txBody>
      </p:sp>
      <p:sp>
        <p:nvSpPr>
          <p:cNvPr id="3" name="TextBox 2"/>
          <p:cNvSpPr txBox="1"/>
          <p:nvPr/>
        </p:nvSpPr>
        <p:spPr>
          <a:xfrm>
            <a:off x="13898880" y="868680"/>
            <a:ext cx="3520440" cy="365760"/>
          </a:xfrm>
          <a:prstGeom prst="rect">
            <a:avLst/>
          </a:prstGeom>
          <a:noFill/>
        </p:spPr>
        <p:txBody>
          <a:bodyPr wrap="square" lIns="0" rIns="0" tIns="0" bIns="0" anchor="t">
            <a:spAutoFit/>
          </a:bodyPr>
          <a:lstStyle/>
          <a:p>
            <a:pPr algn="r"/>
            <a:r>
              <a:rPr sz="1600" b="0" i="0">
                <a:solidFill>
                  <a:srgbClr val="000000"/>
                </a:solidFill>
                <a:latin typeface="Arial"/>
              </a:rPr>
              <a:t>Page 05 of 05</a:t>
            </a:r>
          </a:p>
        </p:txBody>
      </p:sp>
      <p:sp>
        <p:nvSpPr>
          <p:cNvPr id="4" name="TextBox 3"/>
          <p:cNvSpPr txBox="1"/>
          <p:nvPr/>
        </p:nvSpPr>
        <p:spPr>
          <a:xfrm>
            <a:off x="868680" y="9235440"/>
            <a:ext cx="8229600" cy="320040"/>
          </a:xfrm>
          <a:prstGeom prst="rect">
            <a:avLst/>
          </a:prstGeom>
          <a:noFill/>
        </p:spPr>
        <p:txBody>
          <a:bodyPr wrap="square" lIns="0" rIns="0" tIns="0" bIns="0" anchor="t">
            <a:spAutoFit/>
          </a:bodyPr>
          <a:lstStyle/>
          <a:p>
            <a:pPr algn="l"/>
            <a:r>
              <a:rPr sz="1600" b="0" i="0">
                <a:solidFill>
                  <a:srgbClr val="000000"/>
                </a:solidFill>
                <a:latin typeface="Arial"/>
              </a:rPr>
              <a:t>marque.skunkworkslab.online</a:t>
            </a:r>
          </a:p>
        </p:txBody>
      </p:sp>
      <p:cxnSp>
        <p:nvCxnSpPr>
          <p:cNvPr id="5" name="Connector 4"/>
          <p:cNvCxnSpPr/>
          <p:nvPr/>
        </p:nvCxnSpPr>
        <p:spPr>
          <a:xfrm>
            <a:off x="15544800" y="9400032"/>
            <a:ext cx="187452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Isosceles Triangle 5"/>
          <p:cNvSpPr/>
          <p:nvPr/>
        </p:nvSpPr>
        <p:spPr>
          <a:xfrm rot="5400000">
            <a:off x="17263872" y="9326880"/>
            <a:ext cx="155448" cy="155448"/>
          </a:xfrm>
          <a:prstGeom prst="triangl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554480"/>
            <a:ext cx="16002000" cy="1097280"/>
          </a:xfrm>
          <a:prstGeom prst="rect">
            <a:avLst/>
          </a:prstGeom>
          <a:noFill/>
        </p:spPr>
        <p:txBody>
          <a:bodyPr wrap="square" lIns="0" rIns="0" tIns="0" bIns="0" anchor="t">
            <a:spAutoFit/>
          </a:bodyPr>
          <a:lstStyle/>
          <a:p>
            <a:pPr algn="l"/>
            <a:r>
              <a:rPr sz="5600" b="1" i="0">
                <a:solidFill>
                  <a:srgbClr val="000000"/>
                </a:solidFill>
                <a:latin typeface="Arial"/>
              </a:rPr>
              <a:t>Why Marque wins</a:t>
            </a:r>
          </a:p>
        </p:txBody>
      </p:sp>
      <p:sp>
        <p:nvSpPr>
          <p:cNvPr id="8" name="Rounded Rectangle 7"/>
          <p:cNvSpPr/>
          <p:nvPr/>
        </p:nvSpPr>
        <p:spPr>
          <a:xfrm>
            <a:off x="868680" y="3108960"/>
            <a:ext cx="9509760" cy="4343400"/>
          </a:xfrm>
          <a:prstGeom prst="roundRect">
            <a:avLst>
              <a:gd name="adj" fmla="val 3000"/>
            </a:avLst>
          </a:prstGeom>
          <a:solidFill>
            <a:srgbClr val="DFD8CA"/>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88720" y="3291840"/>
            <a:ext cx="2743200" cy="365760"/>
          </a:xfrm>
          <a:prstGeom prst="rect">
            <a:avLst/>
          </a:prstGeom>
          <a:noFill/>
        </p:spPr>
        <p:txBody>
          <a:bodyPr wrap="square" lIns="0" rIns="0" tIns="0" bIns="0" anchor="t">
            <a:spAutoFit/>
          </a:bodyPr>
          <a:lstStyle/>
          <a:p>
            <a:pPr algn="l"/>
            <a:r>
              <a:rPr sz="1500" b="1" i="0">
                <a:solidFill>
                  <a:srgbClr val="B91646"/>
                </a:solidFill>
                <a:latin typeface="Arial"/>
              </a:rPr>
              <a:t>TOOL</a:t>
            </a:r>
          </a:p>
        </p:txBody>
      </p:sp>
      <p:sp>
        <p:nvSpPr>
          <p:cNvPr id="10" name="TextBox 9"/>
          <p:cNvSpPr txBox="1"/>
          <p:nvPr/>
        </p:nvSpPr>
        <p:spPr>
          <a:xfrm>
            <a:off x="4206240" y="3291840"/>
            <a:ext cx="2743200" cy="365760"/>
          </a:xfrm>
          <a:prstGeom prst="rect">
            <a:avLst/>
          </a:prstGeom>
          <a:noFill/>
        </p:spPr>
        <p:txBody>
          <a:bodyPr wrap="square" lIns="0" rIns="0" tIns="0" bIns="0" anchor="t">
            <a:spAutoFit/>
          </a:bodyPr>
          <a:lstStyle/>
          <a:p>
            <a:pPr algn="l"/>
            <a:r>
              <a:rPr sz="1500" b="1" i="0">
                <a:solidFill>
                  <a:srgbClr val="B91646"/>
                </a:solidFill>
                <a:latin typeface="Arial"/>
              </a:rPr>
              <a:t>GREAT AT</a:t>
            </a:r>
          </a:p>
        </p:txBody>
      </p:sp>
      <p:sp>
        <p:nvSpPr>
          <p:cNvPr id="11" name="TextBox 10"/>
          <p:cNvSpPr txBox="1"/>
          <p:nvPr/>
        </p:nvSpPr>
        <p:spPr>
          <a:xfrm>
            <a:off x="7315200" y="3291840"/>
            <a:ext cx="2926080" cy="365760"/>
          </a:xfrm>
          <a:prstGeom prst="rect">
            <a:avLst/>
          </a:prstGeom>
          <a:noFill/>
        </p:spPr>
        <p:txBody>
          <a:bodyPr wrap="square" lIns="0" rIns="0" tIns="0" bIns="0" anchor="t">
            <a:spAutoFit/>
          </a:bodyPr>
          <a:lstStyle/>
          <a:p>
            <a:pPr algn="l"/>
            <a:r>
              <a:rPr sz="1500" b="1" i="0">
                <a:solidFill>
                  <a:srgbClr val="105652"/>
                </a:solidFill>
                <a:latin typeface="Arial"/>
              </a:rPr>
              <a:t>WE ADD</a:t>
            </a:r>
          </a:p>
        </p:txBody>
      </p:sp>
      <p:cxnSp>
        <p:nvCxnSpPr>
          <p:cNvPr id="12" name="Connector 11"/>
          <p:cNvCxnSpPr/>
          <p:nvPr/>
        </p:nvCxnSpPr>
        <p:spPr>
          <a:xfrm>
            <a:off x="1188720" y="3749039"/>
            <a:ext cx="8869680"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188720" y="3931920"/>
            <a:ext cx="2926080" cy="1005840"/>
          </a:xfrm>
          <a:prstGeom prst="rect">
            <a:avLst/>
          </a:prstGeom>
          <a:noFill/>
        </p:spPr>
        <p:txBody>
          <a:bodyPr wrap="square" lIns="0" rIns="0" tIns="0" bIns="0" anchor="t">
            <a:spAutoFit/>
          </a:bodyPr>
          <a:lstStyle/>
          <a:p>
            <a:pPr algn="l"/>
            <a:r>
              <a:rPr sz="1900" b="1" i="0">
                <a:solidFill>
                  <a:srgbClr val="000000"/>
                </a:solidFill>
                <a:latin typeface="Arial"/>
              </a:rPr>
              <a:t>Google Pomelli</a:t>
            </a:r>
          </a:p>
        </p:txBody>
      </p:sp>
      <p:sp>
        <p:nvSpPr>
          <p:cNvPr id="14" name="TextBox 13"/>
          <p:cNvSpPr txBox="1"/>
          <p:nvPr/>
        </p:nvSpPr>
        <p:spPr>
          <a:xfrm>
            <a:off x="4206240" y="3931920"/>
            <a:ext cx="2926080" cy="1097280"/>
          </a:xfrm>
          <a:prstGeom prst="rect">
            <a:avLst/>
          </a:prstGeom>
          <a:noFill/>
        </p:spPr>
        <p:txBody>
          <a:bodyPr wrap="square" lIns="0" rIns="0" tIns="0" bIns="0" anchor="t">
            <a:spAutoFit/>
          </a:bodyPr>
          <a:lstStyle/>
          <a:p>
            <a:pPr algn="l"/>
            <a:r>
              <a:rPr sz="1400" b="0" i="0">
                <a:solidFill>
                  <a:srgbClr val="000000"/>
                </a:solidFill>
                <a:latin typeface="Arial"/>
              </a:rPr>
              <a:t>Website to Business DNA to campaign assets. Free, live in India</a:t>
            </a:r>
          </a:p>
        </p:txBody>
      </p:sp>
      <p:sp>
        <p:nvSpPr>
          <p:cNvPr id="15" name="TextBox 14"/>
          <p:cNvSpPr txBox="1"/>
          <p:nvPr/>
        </p:nvSpPr>
        <p:spPr>
          <a:xfrm>
            <a:off x="7315200" y="3931920"/>
            <a:ext cx="2926080" cy="1097280"/>
          </a:xfrm>
          <a:prstGeom prst="rect">
            <a:avLst/>
          </a:prstGeom>
          <a:noFill/>
        </p:spPr>
        <p:txBody>
          <a:bodyPr wrap="square" lIns="0" rIns="0" tIns="0" bIns="0" anchor="t">
            <a:spAutoFit/>
          </a:bodyPr>
          <a:lstStyle/>
          <a:p>
            <a:pPr algn="l"/>
            <a:r>
              <a:rPr sz="1400" b="1" i="0">
                <a:solidFill>
                  <a:srgbClr val="105652"/>
                </a:solidFill>
                <a:latin typeface="Arial"/>
              </a:rPr>
              <a:t>Judges and fixes the work, audits old posts</a:t>
            </a:r>
          </a:p>
        </p:txBody>
      </p:sp>
      <p:sp>
        <p:nvSpPr>
          <p:cNvPr id="16" name="TextBox 15"/>
          <p:cNvSpPr txBox="1"/>
          <p:nvPr/>
        </p:nvSpPr>
        <p:spPr>
          <a:xfrm>
            <a:off x="1188720" y="5029200"/>
            <a:ext cx="2926080" cy="1005840"/>
          </a:xfrm>
          <a:prstGeom prst="rect">
            <a:avLst/>
          </a:prstGeom>
          <a:noFill/>
        </p:spPr>
        <p:txBody>
          <a:bodyPr wrap="square" lIns="0" rIns="0" tIns="0" bIns="0" anchor="t">
            <a:spAutoFit/>
          </a:bodyPr>
          <a:lstStyle/>
          <a:p>
            <a:pPr algn="l"/>
            <a:r>
              <a:rPr sz="1900" b="1" i="0">
                <a:solidFill>
                  <a:srgbClr val="000000"/>
                </a:solidFill>
                <a:latin typeface="Arial"/>
              </a:rPr>
              <a:t>Canva</a:t>
            </a:r>
          </a:p>
        </p:txBody>
      </p:sp>
      <p:sp>
        <p:nvSpPr>
          <p:cNvPr id="17" name="TextBox 16"/>
          <p:cNvSpPr txBox="1"/>
          <p:nvPr/>
        </p:nvSpPr>
        <p:spPr>
          <a:xfrm>
            <a:off x="4206240" y="5029200"/>
            <a:ext cx="2926080" cy="1097280"/>
          </a:xfrm>
          <a:prstGeom prst="rect">
            <a:avLst/>
          </a:prstGeom>
          <a:noFill/>
        </p:spPr>
        <p:txBody>
          <a:bodyPr wrap="square" lIns="0" rIns="0" tIns="0" bIns="0" anchor="t">
            <a:spAutoFit/>
          </a:bodyPr>
          <a:lstStyle/>
          <a:p>
            <a:pPr algn="l"/>
            <a:r>
              <a:rPr sz="1400" b="0" i="0">
                <a:solidFill>
                  <a:srgbClr val="000000"/>
                </a:solidFill>
                <a:latin typeface="Arial"/>
              </a:rPr>
              <a:t>Templates, Brand Kit, resizing, a full editor</a:t>
            </a:r>
          </a:p>
        </p:txBody>
      </p:sp>
      <p:sp>
        <p:nvSpPr>
          <p:cNvPr id="18" name="TextBox 17"/>
          <p:cNvSpPr txBox="1"/>
          <p:nvPr/>
        </p:nvSpPr>
        <p:spPr>
          <a:xfrm>
            <a:off x="7315200" y="5029200"/>
            <a:ext cx="2926080" cy="1097280"/>
          </a:xfrm>
          <a:prstGeom prst="rect">
            <a:avLst/>
          </a:prstGeom>
          <a:noFill/>
        </p:spPr>
        <p:txBody>
          <a:bodyPr wrap="square" lIns="0" rIns="0" tIns="0" bIns="0" anchor="t">
            <a:spAutoFit/>
          </a:bodyPr>
          <a:lstStyle/>
          <a:p>
            <a:pPr algn="l"/>
            <a:r>
              <a:rPr sz="1400" b="1" i="0">
                <a:solidFill>
                  <a:srgbClr val="105652"/>
                </a:solidFill>
                <a:latin typeface="Arial"/>
              </a:rPr>
              <a:t>Agent does the work; owner approves</a:t>
            </a:r>
          </a:p>
        </p:txBody>
      </p:sp>
      <p:sp>
        <p:nvSpPr>
          <p:cNvPr id="19" name="TextBox 18"/>
          <p:cNvSpPr txBox="1"/>
          <p:nvPr/>
        </p:nvSpPr>
        <p:spPr>
          <a:xfrm>
            <a:off x="1188720" y="6126480"/>
            <a:ext cx="2926080" cy="1005840"/>
          </a:xfrm>
          <a:prstGeom prst="rect">
            <a:avLst/>
          </a:prstGeom>
          <a:noFill/>
        </p:spPr>
        <p:txBody>
          <a:bodyPr wrap="square" lIns="0" rIns="0" tIns="0" bIns="0" anchor="t">
            <a:spAutoFit/>
          </a:bodyPr>
          <a:lstStyle/>
          <a:p>
            <a:pPr algn="l"/>
            <a:r>
              <a:rPr sz="1900" b="1" i="0">
                <a:solidFill>
                  <a:srgbClr val="000000"/>
                </a:solidFill>
                <a:latin typeface="Arial"/>
              </a:rPr>
              <a:t>ChatGPT / Gemini</a:t>
            </a:r>
          </a:p>
        </p:txBody>
      </p:sp>
      <p:sp>
        <p:nvSpPr>
          <p:cNvPr id="20" name="TextBox 19"/>
          <p:cNvSpPr txBox="1"/>
          <p:nvPr/>
        </p:nvSpPr>
        <p:spPr>
          <a:xfrm>
            <a:off x="4206240" y="6126480"/>
            <a:ext cx="2926080" cy="1097280"/>
          </a:xfrm>
          <a:prstGeom prst="rect">
            <a:avLst/>
          </a:prstGeom>
          <a:noFill/>
        </p:spPr>
        <p:txBody>
          <a:bodyPr wrap="square" lIns="0" rIns="0" tIns="0" bIns="0" anchor="t">
            <a:spAutoFit/>
          </a:bodyPr>
          <a:lstStyle/>
          <a:p>
            <a:pPr algn="l"/>
            <a:r>
              <a:rPr sz="1400" b="0" i="0">
                <a:solidFill>
                  <a:srgbClr val="000000"/>
                </a:solidFill>
                <a:latin typeface="Arial"/>
              </a:rPr>
              <a:t>Flexible text and image generation</a:t>
            </a:r>
          </a:p>
        </p:txBody>
      </p:sp>
      <p:sp>
        <p:nvSpPr>
          <p:cNvPr id="21" name="TextBox 20"/>
          <p:cNvSpPr txBox="1"/>
          <p:nvPr/>
        </p:nvSpPr>
        <p:spPr>
          <a:xfrm>
            <a:off x="7315200" y="6126480"/>
            <a:ext cx="2926080" cy="1097280"/>
          </a:xfrm>
          <a:prstGeom prst="rect">
            <a:avLst/>
          </a:prstGeom>
          <a:noFill/>
        </p:spPr>
        <p:txBody>
          <a:bodyPr wrap="square" lIns="0" rIns="0" tIns="0" bIns="0" anchor="t">
            <a:spAutoFit/>
          </a:bodyPr>
          <a:lstStyle/>
          <a:p>
            <a:pPr algn="l"/>
            <a:r>
              <a:rPr sz="1400" b="1" i="0">
                <a:solidFill>
                  <a:srgbClr val="105652"/>
                </a:solidFill>
                <a:latin typeface="Arial"/>
              </a:rPr>
              <a:t>Persistent brand rules, editable layers, correct text</a:t>
            </a:r>
          </a:p>
        </p:txBody>
      </p:sp>
      <p:sp>
        <p:nvSpPr>
          <p:cNvPr id="22" name="TextBox 21"/>
          <p:cNvSpPr txBox="1"/>
          <p:nvPr/>
        </p:nvSpPr>
        <p:spPr>
          <a:xfrm>
            <a:off x="1188720" y="6967728"/>
            <a:ext cx="8961120" cy="365760"/>
          </a:xfrm>
          <a:prstGeom prst="rect">
            <a:avLst/>
          </a:prstGeom>
          <a:noFill/>
        </p:spPr>
        <p:txBody>
          <a:bodyPr wrap="square" lIns="0" rIns="0" tIns="0" bIns="0" anchor="t">
            <a:spAutoFit/>
          </a:bodyPr>
          <a:lstStyle/>
          <a:p>
            <a:pPr algn="l"/>
            <a:r>
              <a:rPr sz="1300" b="0" i="0">
                <a:solidFill>
                  <a:srgbClr val="5A5245"/>
                </a:solidFill>
                <a:latin typeface="Arial"/>
              </a:rPr>
              <a:t>Built for how Indian owners market: Instagram, Google, WhatsApp, ₹, Hinglish, festivals.</a:t>
            </a:r>
          </a:p>
        </p:txBody>
      </p:sp>
      <p:sp>
        <p:nvSpPr>
          <p:cNvPr id="23" name="TextBox 22"/>
          <p:cNvSpPr txBox="1"/>
          <p:nvPr/>
        </p:nvSpPr>
        <p:spPr>
          <a:xfrm>
            <a:off x="10972800" y="3063240"/>
            <a:ext cx="6400800" cy="822960"/>
          </a:xfrm>
          <a:prstGeom prst="rect">
            <a:avLst/>
          </a:prstGeom>
          <a:noFill/>
        </p:spPr>
        <p:txBody>
          <a:bodyPr wrap="square" lIns="0" rIns="0" tIns="0" bIns="0" anchor="t">
            <a:spAutoFit/>
          </a:bodyPr>
          <a:lstStyle/>
          <a:p>
            <a:pPr algn="l"/>
            <a:r>
              <a:rPr sz="3400" b="1" i="0">
                <a:solidFill>
                  <a:srgbClr val="B91646"/>
                </a:solidFill>
                <a:latin typeface="Arial"/>
              </a:rPr>
              <a:t>Adoption path</a:t>
            </a:r>
          </a:p>
        </p:txBody>
      </p:sp>
      <p:cxnSp>
        <p:nvCxnSpPr>
          <p:cNvPr id="24" name="Connector 23"/>
          <p:cNvCxnSpPr/>
          <p:nvPr/>
        </p:nvCxnSpPr>
        <p:spPr>
          <a:xfrm>
            <a:off x="11155680" y="4251960"/>
            <a:ext cx="0" cy="310896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11055096" y="4160520"/>
            <a:ext cx="201168" cy="201168"/>
          </a:xfrm>
          <a:prstGeom prst="ellipse">
            <a:avLst/>
          </a:prstGeom>
          <a:solidFill>
            <a:srgbClr val="B9164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1567160" y="4069080"/>
            <a:ext cx="5852160" cy="411480"/>
          </a:xfrm>
          <a:prstGeom prst="rect">
            <a:avLst/>
          </a:prstGeom>
          <a:noFill/>
        </p:spPr>
        <p:txBody>
          <a:bodyPr wrap="square" lIns="0" rIns="0" tIns="0" bIns="0" anchor="t">
            <a:spAutoFit/>
          </a:bodyPr>
          <a:lstStyle/>
          <a:p>
            <a:pPr algn="l"/>
            <a:r>
              <a:rPr sz="1800" b="1" i="0">
                <a:solidFill>
                  <a:srgbClr val="000000"/>
                </a:solidFill>
                <a:latin typeface="Arial"/>
              </a:rPr>
              <a:t>Pilot</a:t>
            </a:r>
          </a:p>
        </p:txBody>
      </p:sp>
      <p:sp>
        <p:nvSpPr>
          <p:cNvPr id="27" name="TextBox 26"/>
          <p:cNvSpPr txBox="1"/>
          <p:nvPr/>
        </p:nvSpPr>
        <p:spPr>
          <a:xfrm>
            <a:off x="11567160" y="4453128"/>
            <a:ext cx="5852160" cy="548640"/>
          </a:xfrm>
          <a:prstGeom prst="rect">
            <a:avLst/>
          </a:prstGeom>
          <a:noFill/>
        </p:spPr>
        <p:txBody>
          <a:bodyPr wrap="square" lIns="0" rIns="0" tIns="0" bIns="0" anchor="t">
            <a:spAutoFit/>
          </a:bodyPr>
          <a:lstStyle/>
          <a:p>
            <a:pPr algn="l"/>
            <a:r>
              <a:rPr sz="1300" b="0" i="0">
                <a:solidFill>
                  <a:srgbClr val="000000"/>
                </a:solidFill>
                <a:latin typeface="Arial"/>
              </a:rPr>
              <a:t>10 cafés and restaurants in Delhi NCR, onboarded in person</a:t>
            </a:r>
          </a:p>
        </p:txBody>
      </p:sp>
      <p:sp>
        <p:nvSpPr>
          <p:cNvPr id="28" name="Oval 27"/>
          <p:cNvSpPr/>
          <p:nvPr/>
        </p:nvSpPr>
        <p:spPr>
          <a:xfrm>
            <a:off x="11055096" y="5029200"/>
            <a:ext cx="201168" cy="201168"/>
          </a:xfrm>
          <a:prstGeom prst="ellipse">
            <a:avLst/>
          </a:prstGeom>
          <a:solidFill>
            <a:srgbClr val="105652"/>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1567160" y="4937760"/>
            <a:ext cx="5852160" cy="411480"/>
          </a:xfrm>
          <a:prstGeom prst="rect">
            <a:avLst/>
          </a:prstGeom>
          <a:noFill/>
        </p:spPr>
        <p:txBody>
          <a:bodyPr wrap="square" lIns="0" rIns="0" tIns="0" bIns="0" anchor="t">
            <a:spAutoFit/>
          </a:bodyPr>
          <a:lstStyle/>
          <a:p>
            <a:pPr algn="l"/>
            <a:r>
              <a:rPr sz="1800" b="1" i="0">
                <a:solidFill>
                  <a:srgbClr val="000000"/>
                </a:solidFill>
                <a:latin typeface="Arial"/>
              </a:rPr>
              <a:t>WhatsApp agent</a:t>
            </a:r>
          </a:p>
        </p:txBody>
      </p:sp>
      <p:sp>
        <p:nvSpPr>
          <p:cNvPr id="30" name="TextBox 29"/>
          <p:cNvSpPr txBox="1"/>
          <p:nvPr/>
        </p:nvSpPr>
        <p:spPr>
          <a:xfrm>
            <a:off x="11567160" y="5321808"/>
            <a:ext cx="5852160" cy="548640"/>
          </a:xfrm>
          <a:prstGeom prst="rect">
            <a:avLst/>
          </a:prstGeom>
          <a:noFill/>
        </p:spPr>
        <p:txBody>
          <a:bodyPr wrap="square" lIns="0" rIns="0" tIns="0" bIns="0" anchor="t">
            <a:spAutoFit/>
          </a:bodyPr>
          <a:lstStyle/>
          <a:p>
            <a:pPr algn="l"/>
            <a:r>
              <a:rPr sz="1300" b="0" i="0">
                <a:solidFill>
                  <a:srgbClr val="000000"/>
                </a:solidFill>
                <a:latin typeface="Arial"/>
              </a:rPr>
              <a:t>Owner sends a voice note, gets finished creatives back</a:t>
            </a:r>
          </a:p>
        </p:txBody>
      </p:sp>
      <p:sp>
        <p:nvSpPr>
          <p:cNvPr id="31" name="Oval 30"/>
          <p:cNvSpPr/>
          <p:nvPr/>
        </p:nvSpPr>
        <p:spPr>
          <a:xfrm>
            <a:off x="11055096" y="5897880"/>
            <a:ext cx="201168" cy="201168"/>
          </a:xfrm>
          <a:prstGeom prst="ellipse">
            <a:avLst/>
          </a:prstGeom>
          <a:solidFill>
            <a:srgbClr val="F9C041"/>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1567160" y="5806440"/>
            <a:ext cx="5852160" cy="411480"/>
          </a:xfrm>
          <a:prstGeom prst="rect">
            <a:avLst/>
          </a:prstGeom>
          <a:noFill/>
        </p:spPr>
        <p:txBody>
          <a:bodyPr wrap="square" lIns="0" rIns="0" tIns="0" bIns="0" anchor="t">
            <a:spAutoFit/>
          </a:bodyPr>
          <a:lstStyle/>
          <a:p>
            <a:pPr algn="l"/>
            <a:r>
              <a:rPr sz="1800" b="1" i="0">
                <a:solidFill>
                  <a:srgbClr val="000000"/>
                </a:solidFill>
                <a:latin typeface="Arial"/>
              </a:rPr>
              <a:t>Channel drafts</a:t>
            </a:r>
          </a:p>
        </p:txBody>
      </p:sp>
      <p:sp>
        <p:nvSpPr>
          <p:cNvPr id="33" name="TextBox 32"/>
          <p:cNvSpPr txBox="1"/>
          <p:nvPr/>
        </p:nvSpPr>
        <p:spPr>
          <a:xfrm>
            <a:off x="11567160" y="6190488"/>
            <a:ext cx="5852160" cy="548640"/>
          </a:xfrm>
          <a:prstGeom prst="rect">
            <a:avLst/>
          </a:prstGeom>
          <a:noFill/>
        </p:spPr>
        <p:txBody>
          <a:bodyPr wrap="square" lIns="0" rIns="0" tIns="0" bIns="0" anchor="t">
            <a:spAutoFit/>
          </a:bodyPr>
          <a:lstStyle/>
          <a:p>
            <a:pPr algn="l"/>
            <a:r>
              <a:rPr sz="1300" b="0" i="0">
                <a:solidFill>
                  <a:srgbClr val="000000"/>
                </a:solidFill>
                <a:latin typeface="Arial"/>
              </a:rPr>
              <a:t>Google Business posts, Zomato and Swiggy banners</a:t>
            </a:r>
          </a:p>
        </p:txBody>
      </p:sp>
      <p:sp>
        <p:nvSpPr>
          <p:cNvPr id="34" name="Oval 33"/>
          <p:cNvSpPr/>
          <p:nvPr/>
        </p:nvSpPr>
        <p:spPr>
          <a:xfrm>
            <a:off x="11055096" y="6766560"/>
            <a:ext cx="201168" cy="201168"/>
          </a:xfrm>
          <a:prstGeom prst="ellipse">
            <a:avLst/>
          </a:prstGeom>
          <a:solidFill>
            <a:srgbClr val="000000"/>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1567160" y="6675120"/>
            <a:ext cx="5852160" cy="411480"/>
          </a:xfrm>
          <a:prstGeom prst="rect">
            <a:avLst/>
          </a:prstGeom>
          <a:noFill/>
        </p:spPr>
        <p:txBody>
          <a:bodyPr wrap="square" lIns="0" rIns="0" tIns="0" bIns="0" anchor="t">
            <a:spAutoFit/>
          </a:bodyPr>
          <a:lstStyle/>
          <a:p>
            <a:pPr algn="l"/>
            <a:r>
              <a:rPr sz="1800" b="1" i="0">
                <a:solidFill>
                  <a:srgbClr val="000000"/>
                </a:solidFill>
                <a:latin typeface="Arial"/>
              </a:rPr>
              <a:t>Learn from results</a:t>
            </a:r>
          </a:p>
        </p:txBody>
      </p:sp>
      <p:sp>
        <p:nvSpPr>
          <p:cNvPr id="36" name="TextBox 35"/>
          <p:cNvSpPr txBox="1"/>
          <p:nvPr/>
        </p:nvSpPr>
        <p:spPr>
          <a:xfrm>
            <a:off x="11567160" y="7059168"/>
            <a:ext cx="5852160" cy="548640"/>
          </a:xfrm>
          <a:prstGeom prst="rect">
            <a:avLst/>
          </a:prstGeom>
          <a:noFill/>
        </p:spPr>
        <p:txBody>
          <a:bodyPr wrap="square" lIns="0" rIns="0" tIns="0" bIns="0" anchor="t">
            <a:spAutoFit/>
          </a:bodyPr>
          <a:lstStyle/>
          <a:p>
            <a:pPr algn="l"/>
            <a:r>
              <a:rPr sz="1300" b="0" i="0">
                <a:solidFill>
                  <a:srgbClr val="000000"/>
                </a:solidFill>
                <a:latin typeface="Arial"/>
              </a:rPr>
              <a:t>Performance data teaches the agent what works per brand</a:t>
            </a:r>
          </a:p>
        </p:txBody>
      </p:sp>
      <p:sp>
        <p:nvSpPr>
          <p:cNvPr id="37" name="Rounded Rectangle 36"/>
          <p:cNvSpPr/>
          <p:nvPr/>
        </p:nvSpPr>
        <p:spPr>
          <a:xfrm>
            <a:off x="868680" y="7772400"/>
            <a:ext cx="16550640" cy="1188720"/>
          </a:xfrm>
          <a:prstGeom prst="roundRect">
            <a:avLst>
              <a:gd name="adj" fmla="val 12000"/>
            </a:avLst>
          </a:prstGeom>
          <a:solidFill>
            <a:srgbClr val="B9164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280160" y="7772400"/>
            <a:ext cx="10607040" cy="1188720"/>
          </a:xfrm>
          <a:prstGeom prst="rect">
            <a:avLst/>
          </a:prstGeom>
          <a:noFill/>
        </p:spPr>
        <p:txBody>
          <a:bodyPr wrap="square" lIns="0" rIns="0" tIns="0" bIns="0" anchor="ctr">
            <a:spAutoFit/>
          </a:bodyPr>
          <a:lstStyle/>
          <a:p>
            <a:pPr algn="l"/>
            <a:r>
              <a:rPr sz="2600" b="1" i="0">
                <a:solidFill>
                  <a:srgbClr val="FFFFFF"/>
                </a:solidFill>
                <a:latin typeface="Arial"/>
              </a:rPr>
              <a:t>Rohan sends one voice note. His whole brand team replies on WhatsApp.</a:t>
            </a:r>
          </a:p>
        </p:txBody>
      </p:sp>
      <p:sp>
        <p:nvSpPr>
          <p:cNvPr id="39" name="TextBox 38"/>
          <p:cNvSpPr txBox="1"/>
          <p:nvPr/>
        </p:nvSpPr>
        <p:spPr>
          <a:xfrm>
            <a:off x="12161520" y="7818120"/>
            <a:ext cx="5120640" cy="1097280"/>
          </a:xfrm>
          <a:prstGeom prst="rect">
            <a:avLst/>
          </a:prstGeom>
          <a:noFill/>
        </p:spPr>
        <p:txBody>
          <a:bodyPr wrap="square" lIns="0" rIns="0" tIns="0" bIns="0" anchor="ctr">
            <a:spAutoFit/>
          </a:bodyPr>
          <a:lstStyle/>
          <a:p>
            <a:pPr algn="l">
              <a:spcAft>
                <a:spcPts val="300"/>
              </a:spcAft>
            </a:pPr>
            <a:r>
              <a:rPr sz="1300" b="1" i="0">
                <a:solidFill>
                  <a:srgbClr val="F9C041"/>
                </a:solidFill>
                <a:latin typeface="Arial"/>
              </a:rPr>
              <a:t>Live  </a:t>
            </a:r>
            <a:r>
              <a:rPr sz="1300" b="0" i="0">
                <a:solidFill>
                  <a:srgbClr val="FFFFFF"/>
                </a:solidFill>
                <a:latin typeface="Arial"/>
              </a:rPr>
              <a:t>marque.skunkworkslab.online</a:t>
            </a:r>
          </a:p>
          <a:p>
            <a:pPr algn="l">
              <a:spcAft>
                <a:spcPts val="300"/>
              </a:spcAft>
            </a:pPr>
            <a:r>
              <a:rPr sz="1300" b="1" i="0">
                <a:solidFill>
                  <a:srgbClr val="F9C041"/>
                </a:solidFill>
                <a:latin typeface="Arial"/>
              </a:rPr>
              <a:t>Code  </a:t>
            </a:r>
            <a:r>
              <a:rPr sz="1300" b="0" i="0">
                <a:solidFill>
                  <a:srgbClr val="FFFFFF"/>
                </a:solidFill>
                <a:latin typeface="Arial"/>
              </a:rPr>
              <a:t>github.com/namanjain24-sudo/Marque.ai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DAHWxuz82p4</dc:identifier>
  <dcterms:modified xsi:type="dcterms:W3CDTF">2011-08-01T06:04:30Z</dcterms:modified>
  <cp:revision>1</cp:revision>
  <dc:title>Beige Minimal Creative Portfolio Presentation</dc:title>
</cp:coreProperties>
</file>